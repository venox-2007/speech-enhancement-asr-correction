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bd229e4c87415a" /><Relationship Type="http://schemas.openxmlformats.org/officeDocument/2006/relationships/extended-properties" Target="/docProps/app.xml" Id="Raecfddcb4b5747ba" /><Relationship Type="http://schemas.openxmlformats.org/officeDocument/2006/relationships/officeDocument" Target="/ppt/presentation.xml" Id="Red6298e0c5ea42ab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62d0af76165b48f7"/>
  </p:sldMasterIdLst>
  <p:sldIdLst>
    <p:sldId id="256" r:id="R46fbdbd77f9c40d7"/>
    <p:sldId id="257" r:id="Rda6553b7df0a487b"/>
    <p:sldId id="258" r:id="R1a307430fdb3477c"/>
    <p:sldId id="259" r:id="Ra6b270bfddde4491"/>
    <p:sldId id="260" r:id="Rf563550ab9a74bc9"/>
    <p:sldId id="261" r:id="R3f1f77187a2d4f54"/>
    <p:sldId id="262" r:id="R6810929c89f44482"/>
    <p:sldId id="263" r:id="Rb610dae95e66493b"/>
    <p:sldId id="264" r:id="R2f40e859c6be448e"/>
    <p:sldId id="265" r:id="R05cf055713cf4e30"/>
    <p:sldId id="266" r:id="Rfd0bed318daa4120"/>
    <p:sldId id="267" r:id="rIdSubmissionRepo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fb2674db4ee64264" /><Relationship Type="http://schemas.openxmlformats.org/officeDocument/2006/relationships/slideMaster" Target="/ppt/slideMasters/slideMaster1.xml" Id="R62d0af76165b48f7" /><Relationship Type="http://schemas.openxmlformats.org/officeDocument/2006/relationships/presProps" Target="/ppt/presProps.xml" Id="Rf222c3a9bde442da" /><Relationship Type="http://schemas.openxmlformats.org/officeDocument/2006/relationships/tableStyles" Target="/ppt/tableStyles.xml" Id="Rb03831ac578d4553" /><Relationship Type="http://schemas.openxmlformats.org/officeDocument/2006/relationships/slide" Target="/ppt/slides/slide1.xml" Id="R46fbdbd77f9c40d7" /><Relationship Type="http://schemas.openxmlformats.org/officeDocument/2006/relationships/slide" Target="/ppt/slides/slide2.xml" Id="Rda6553b7df0a487b" /><Relationship Type="http://schemas.openxmlformats.org/officeDocument/2006/relationships/slide" Target="/ppt/slides/slide3.xml" Id="R1a307430fdb3477c" /><Relationship Type="http://schemas.openxmlformats.org/officeDocument/2006/relationships/slide" Target="/ppt/slides/slide4.xml" Id="Ra6b270bfddde4491" /><Relationship Type="http://schemas.openxmlformats.org/officeDocument/2006/relationships/slide" Target="/ppt/slides/slide5.xml" Id="Rf563550ab9a74bc9" /><Relationship Type="http://schemas.openxmlformats.org/officeDocument/2006/relationships/slide" Target="/ppt/slides/slide6.xml" Id="R3f1f77187a2d4f54" /><Relationship Type="http://schemas.openxmlformats.org/officeDocument/2006/relationships/slide" Target="/ppt/slides/slide7.xml" Id="R6810929c89f44482" /><Relationship Type="http://schemas.openxmlformats.org/officeDocument/2006/relationships/slide" Target="/ppt/slides/slide8.xml" Id="Rb610dae95e66493b" /><Relationship Type="http://schemas.openxmlformats.org/officeDocument/2006/relationships/slide" Target="/ppt/slides/slide9.xml" Id="R2f40e859c6be448e" /><Relationship Type="http://schemas.openxmlformats.org/officeDocument/2006/relationships/slide" Target="/ppt/slides/slide10.xml" Id="R05cf055713cf4e30" /><Relationship Type="http://schemas.openxmlformats.org/officeDocument/2006/relationships/slide" Target="/ppt/slides/slide11.xml" Id="Rfd0bed318daa4120" /><Relationship Id="rIdSubmissionRepo" Type="http://schemas.openxmlformats.org/officeDocument/2006/relationships/slide" Target="slides/slide12.xml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2fd4daf424f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9a8caaa384b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3c3d438304e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c35f7803d45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e36f28d9042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fd1adb59b47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9B6BFF-1735-481B-8760-3A31F2E9D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A25228-4DEA-4BCE-9F5F-3FB004BCC8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BDD8F7-BBA6-4ED0-AC70-AD1A2BC68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0637E9-033B-415F-863F-BBD3C15230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CF6A14-A616-438B-A2E0-F08A37DB12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8C642B-5F7D-4499-B1D4-66A755347A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5323D8-FF9B-4A77-A40A-6CE9B1E9DB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8F4E29-E381-446C-BA8D-D02EF57001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7CEAC7-95B4-49AF-A0A8-8D53FFE07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BC6CD1-74A0-41D1-91BF-26F7D2449D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1119f63c3946b5" /><Relationship Type="http://schemas.openxmlformats.org/officeDocument/2006/relationships/slideLayout" Target="/ppt/slideLayouts/slideLayout1.xml" Id="R5c26d10d82144961" /><Relationship Type="http://schemas.openxmlformats.org/officeDocument/2006/relationships/slideLayout" Target="/ppt/slideLayouts/slideLayout2.xml" Id="R1f40f9fe97f44795" /><Relationship Type="http://schemas.openxmlformats.org/officeDocument/2006/relationships/slideLayout" Target="/ppt/slideLayouts/slideLayout3.xml" Id="R76352c820ed74375" /><Relationship Type="http://schemas.openxmlformats.org/officeDocument/2006/relationships/slideLayout" Target="/ppt/slideLayouts/slideLayout4.xml" Id="R6e0edffc86df421f" /><Relationship Type="http://schemas.openxmlformats.org/officeDocument/2006/relationships/slideLayout" Target="/ppt/slideLayouts/slideLayout5.xml" Id="R40aae848aa914e0c" /><Relationship Type="http://schemas.openxmlformats.org/officeDocument/2006/relationships/slideLayout" Target="/ppt/slideLayouts/slideLayout6.xml" Id="R00eb2be8f41142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26d10d82144961"/>
    <p:sldLayoutId xmlns:r="http://schemas.openxmlformats.org/officeDocument/2006/relationships" id="2147483650" r:id="R1f40f9fe97f44795"/>
    <p:sldLayoutId xmlns:r="http://schemas.openxmlformats.org/officeDocument/2006/relationships" id="2147483651" r:id="R76352c820ed74375"/>
    <p:sldLayoutId xmlns:r="http://schemas.openxmlformats.org/officeDocument/2006/relationships" id="2147483652" r:id="R6e0edffc86df421f"/>
    <p:sldLayoutId xmlns:r="http://schemas.openxmlformats.org/officeDocument/2006/relationships" id="2147483653" r:id="R40aae848aa914e0c"/>
    <p:sldLayoutId xmlns:r="http://schemas.openxmlformats.org/officeDocument/2006/relationships" id="2147483654" r:id="R00eb2be8f41142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Epilogue"/>
        <a:ea typeface=""/>
        <a:cs typeface=""/>
      </a:majorFont>
      <a:minorFont>
        <a:latin typeface="Epilog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2b35c678829b4737" /><ns0:Relationship Type="http://schemas.openxmlformats.org/officeDocument/2006/relationships/image" Target="/ppt/media/image.png" Id="R7c920e51d74b4f48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b8ad81b91ae4e0e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167a8246b0b4ec7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77153a160c24fb5" /><ns0:Relationship Type="http://schemas.openxmlformats.org/officeDocument/2006/relationships/image" Target="/ppt/media/image2.png" Id="Re8d35ed39f9e49c5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ab4f049342a24db8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0cae6aadb2c24c66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003c4e332114bd4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02870f8514b45d4" /><ns0:Relationship Type="http://schemas.openxmlformats.org/officeDocument/2006/relationships/chart" Target="/ppt/slides/charts/chart1.xml" Id="Rd66286f460934f90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7380685d56ab4354" /><ns0:Relationship Type="http://schemas.openxmlformats.org/officeDocument/2006/relationships/image" Target="/ppt/media/image.jpeg" Id="R787bc96231fd44dc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25dab5baef9421c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a91f1be40964953" /></ns0: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github.com/venox-2007/speech-enhancement-asr-correction" TargetMode="External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Corpus WER</c:v>
          </c:tx>
          <c:spPr>
            <a:solidFill xmlns:a="http://schemas.openxmlformats.org/drawingml/2006/main">
              <a:srgbClr val="67BEF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6A9E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7BE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F889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5D8C1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9D92D2"/>
              </a:solidFill>
            </c:spPr>
          </c:dPt>
          <c:cat>
            <c:strLit>
              <c:ptCount val="5"/>
              <c:pt idx="0">
                <c:v>Clean</c:v>
              </c:pt>
              <c:pt idx="1">
                <c:v>Noisy</c:v>
              </c:pt>
              <c:pt idx="2">
                <c:v>Enhanced</c:v>
              </c:pt>
              <c:pt idx="3">
                <c:v>Noisy + corr.</c:v>
              </c:pt>
              <c:pt idx="4">
                <c:v>Enhanced + corr.</c:v>
              </c:pt>
            </c:strLit>
          </c:cat>
          <c:val>
            <c:numLit>
              <c:formatCode>0%</c:formatCode>
              <c:ptCount val="5"/>
              <c:pt idx="0">
                <c:v>0.04653034938013202</c:v>
              </c:pt>
              <c:pt idx="1">
                <c:v>0.0722910964417968</c:v>
              </c:pt>
              <c:pt idx="2">
                <c:v>0.08227338592819192</c:v>
              </c:pt>
              <c:pt idx="3">
                <c:v>0.07116406375784898</c:v>
              </c:pt>
              <c:pt idx="4">
                <c:v>0.08114635324424409</c:v>
              </c:pt>
            </c:numLit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FFFFFF"/>
                  </a:solidFill>
                  <a:latin typeface="Epilogue"/>
                  <a:ea typeface="Epilogue"/>
                  <a:cs typeface="Epilog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14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</a:p>
        </c:txPr>
        <c:crossAx val="48672768"/>
      </c:catAx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414A70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414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080E26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E26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BE70F-3847-4F0E-B34B-2661E9B87B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20e51d74b4f48"/>
          <a:srcRect xmlns:a="http://schemas.openxmlformats.org/drawingml/2006/main" l="7480" t="0" r="74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667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Deep Learning-Based Speech Enhancement">
            <a:extLst xmlns:a="http://schemas.openxmlformats.org/drawingml/2006/main">
              <a:ext uri="{FF2B5EF4-FFF2-40B4-BE49-F238E27FC236}">
                <a16:creationId xmlns:a16="http://schemas.microsoft.com/office/drawing/2014/main" id="{A864E11B-094B-458A-A216-6A054FD7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04900"/>
            <a:ext cx="6334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Deep Learning-Based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360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Speech Enhancement</a:t>
            </a:r>
          </a:p>
        </p:txBody>
      </p:sp>
      <p:sp>
        <p:nvSpPr>
          <p:cNvPr id="4" name="and Context-Aware ASR Correction">
            <a:extLst xmlns:a="http://schemas.openxmlformats.org/drawingml/2006/main">
              <a:ext uri="{FF2B5EF4-FFF2-40B4-BE49-F238E27FC236}">
                <a16:creationId xmlns:a16="http://schemas.microsoft.com/office/drawing/2014/main" id="{C214A447-1B2C-41FA-90DF-5DFB4557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7BE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2250" b="0">
                <a:solidFill>
                  <a:srgbClr val="67BE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2250" b="0">
                <a:solidFill>
                  <a:srgbClr val="67BE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2250" b="0">
                <a:solidFill>
                  <a:srgbClr val="67BE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2250" b="0">
                <a:solidFill>
                  <a:srgbClr val="67BE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2250" b="0">
                <a:solidFill>
                  <a:srgbClr val="67BE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2250" b="0">
                <a:solidFill>
                  <a:srgbClr val="67BE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2250" b="0">
                <a:solidFill>
                  <a:srgbClr val="67BE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2250" b="0">
                <a:solidFill>
                  <a:srgbClr val="67BE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2250" b="0">
                <a:solidFill>
                  <a:srgbClr val="67BE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67BE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2250" b="0">
                <a:solidFill>
                  <a:srgbClr val="67BEFF"/>
                </a:solidFill>
                <a:latin typeface="Fraunces Medium"/>
                <a:ea typeface="Fraunces Medium"/>
                <a:cs typeface="Fraunces Medium"/>
              </a:rPr>
              <a:t>and Context-Aware ASR Correction</a:t>
            </a:r>
          </a:p>
        </p:txBody>
      </p:sp>
      <p:sp>
        <p:nvSpPr>
          <p:cNvPr id="5" name="Reducing noise and correcting speech recognition errors">
            <a:extLst xmlns:a="http://schemas.openxmlformats.org/drawingml/2006/main">
              <a:ext uri="{FF2B5EF4-FFF2-40B4-BE49-F238E27FC236}">
                <a16:creationId xmlns:a16="http://schemas.microsoft.com/office/drawing/2014/main" id="{2A565E28-CB76-4F37-98CD-CBA000AD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24325"/>
            <a:ext cx="609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72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Reducing noise and correcting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72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speech recognition errors</a:t>
            </a:r>
          </a:p>
        </p:txBody>
      </p:sp>
      <p:sp>
        <p:nvSpPr>
          <p:cNvPr id="6" name="Yug Agrawal PRN: 24070126209">
            <a:extLst xmlns:a="http://schemas.openxmlformats.org/drawingml/2006/main">
              <a:ext uri="{FF2B5EF4-FFF2-40B4-BE49-F238E27FC236}">
                <a16:creationId xmlns:a16="http://schemas.microsoft.com/office/drawing/2014/main" id="{3B189F69-85F3-4416-8FE7-88A893BF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81625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Yug Agrawal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PRN: 24070126209</a:t>
            </a:r>
          </a:p>
        </p:txBody>
      </p:sp>
    </p:spTree>
    <p:extLst>
      <p:ext uri="{BB962C8B-B14F-4D97-AF65-F5344CB8AC3E}">
        <p14:creationId xmlns:p14="http://schemas.microsoft.com/office/powerpoint/2010/main" val="2126626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Problem &amp; Related Work">
            <a:extLst>
              <a:ext uri="{FF2B5EF4-FFF2-40B4-BE49-F238E27FC236}">
                <ns2:creationId id="{0173605E-6108-4D96-8168-B8DB3F9D8C97}"/>
              </a:ext>
            </a:extLst>
          </p:cNvPr>
          <p:cNvSpPr>
            <a:spLocks noGrp="1"/>
          </p:cNvSpPr>
          <p:nvPr/>
        </p:nvSpPr>
        <p:spPr>
          <a:xfrm>
            <a:off x="666750" y="504825"/>
            <a:ext cx="10858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>
            <a:pPr algn="l">
              <a:lnSpc>
                <a:spcPct val="115000"/>
              </a:lnSpc>
              <a:buNone/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Problem &amp; Related Work</a:t>
            </a:r>
          </a:p>
        </p:txBody>
      </p:sp>
      <p:sp>
        <p:nvSpPr>
          <p:cNvPr id="3" name="We study whether cleaner audio also helps speech recognition.">
            <a:extLst>
              <a:ext uri="{FF2B5EF4-FFF2-40B4-BE49-F238E27FC236}">
                <ns2:creationId id="{719640A0-3E59-4E8C-BAAE-1B82341EAB9D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9pPr>
          </a:lstStyle>
          <a:p>
            <a:pPr algn="l">
              <a:lnSpc>
                <a:spcPct val="115000"/>
              </a:lnSpc>
              <a:buNone/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  <a:r>
              <a:rPr sz="1425" b="0">
                <a:solidFill>
                  <a:srgbClr val="AAB6DB"/>
                </a:solidFill>
                <a:latin typeface="Epilogue"/>
                <a:ea typeface="Epilogue"/>
                <a:cs typeface="Epilogue"/>
              </a:rPr>
              <a:t>We study whether cleaner audio also helps speech recognition.</a:t>
            </a:r>
          </a:p>
        </p:txBody>
      </p:sp>
      <p:sp>
        <p:nvSpPr>
          <p:cNvPr id="4" name="Our objective">
            <a:extLst>
              <a:ext uri="{FF2B5EF4-FFF2-40B4-BE49-F238E27FC236}">
                <ns2:creationId id="{F125B8B9-A1F6-4298-B218-B1017C5CC66E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Our objective</a:t>
            </a:r>
          </a:p>
        </p:txBody>
      </p:sp>
      <p:sp>
        <p:nvSpPr>
          <p:cNvPr id="5" name="Background noise can cause speech recognition errors. We train a U-Net">
            <a:extLst>
              <a:ext uri="{FF2B5EF4-FFF2-40B4-BE49-F238E27FC236}">
                <ns2:creationId id="{0792B1C2-DE19-49A4-B70F-724FC953F7FD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49530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87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Background noise can cause speech recognition errors. We train a U-Net to reduce noise, then use Whisper to convert speech into text.</a:t>
            </a:r>
          </a:p>
          <a:p>
            <a:r>
              <a:t/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87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We also test whether similar-sounding word replacements can improve the transcript.</a:t>
            </a:r>
          </a:p>
        </p:txBody>
      </p:sp>
      <p:sp>
        <p:nvSpPr>
          <p:cNvPr id="6" name="Related work">
            <a:extLst>
              <a:ext uri="{FF2B5EF4-FFF2-40B4-BE49-F238E27FC236}">
                <ns2:creationId id="{E3469554-A399-42F5-948C-3FCB53744C0E}"/>
              </a:ext>
            </a:extLst>
          </p:cNvPr>
          <p:cNvSpPr>
            <a:spLocks noGrp="1"/>
          </p:cNvSpPr>
          <p:nvPr/>
        </p:nvSpPr>
        <p:spPr>
          <a:xfrm>
            <a:off x="6191250" y="1905000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Related work</a:t>
            </a:r>
          </a:p>
        </p:txBody>
      </p:sp>
      <p:graphicFrame>
        <p:nvGraphicFramePr>
          <p:cNvPr id="7" name="">
            <a:extLst>
              <a:ext uri="{FF2B5EF4-FFF2-40B4-BE49-F238E27FC236}">
                <ns2:creationId id="{D83A7783-8E20-44D6-88B1-E12F760DF72C}"/>
              </a:ext>
            </a:extLst>
          </p:cNvPr>
          <p:cNvGraphicFramePr/>
          <p:nvPr/>
        </p:nvGraphicFramePr>
        <p:xfrm>
          <a:off x="6191250" y="2333625"/>
          <a:ext cx="5334000" cy="3000375"/>
        </p:xfrm>
        <a:graphic>
          <a:graphicData uri="http://schemas.openxmlformats.org/drawingml/2006/table">
            <a:tbl>
              <a:tblPr/>
              <a:tblGrid>
                <a:gridCol w="1857375"/>
                <a:gridCol w="3476625"/>
              </a:tblGrid>
              <a:tr h="6000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Epilogue"/>
                          <a:ea typeface="Epilogue"/>
                          <a:cs typeface="Epilogue"/>
                        </a:rPr>
                        <a:t>Method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T w="9525">
                      <a:solidFill>
                        <a:srgbClr val="414A70"/>
                      </a:solidFill>
                      <a:prstDash val="solid"/>
                    </a:lnT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2831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Epilogue"/>
                          <a:ea typeface="Epilogue"/>
                          <a:cs typeface="Epilogue"/>
                        </a:rPr>
                        <a:t>Contribution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T w="9525">
                      <a:solidFill>
                        <a:srgbClr val="414A70"/>
                      </a:solidFill>
                      <a:prstDash val="solid"/>
                    </a:lnT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28315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SEGAN (2017)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One network cleans audio. Another judges how clean it sounds.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MetricGAN (2019)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A quality-score network guides the enhancer toward better speech.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DCCRN (2020)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It improves magnitude and phase to reconstruct cleaner speech.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MetricGAN+ (2021)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It improves MetricGAN training to achieve better speech quality.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>
              <a:ext uri="{FF2B5EF4-FFF2-40B4-BE49-F238E27FC236}">
                <ns2:creationId id="{07E100A4-D30D-4298-A4AC-6C3E9086F667}"/>
              </a:ext>
            </a:extLst>
          </p:cNvPr>
          <p:cNvSpPr>
            <a:spLocks noGrp="1"/>
          </p:cNvSpPr>
          <p:nvPr/>
        </p:nvSpPr>
        <p:spPr>
          <a:xfrm>
            <a:off x="666750" y="5686425"/>
            <a:ext cx="10858500" cy="0"/>
          </a:xfrm>
          <a:prstGeom prst="line">
            <a:avLst/>
          </a:prstGeom>
          <a:ln w="12383">
            <a:solidFill>
              <a:srgbClr val="55D8C1"/>
            </a:solidFill>
          </a:ln>
        </p:spPr>
      </p:sp>
      <p:sp>
        <p:nvSpPr>
          <p:cNvPr id="9" name="We measure audio quality and word errors on the same recordings.">
            <a:extLst>
              <a:ext uri="{FF2B5EF4-FFF2-40B4-BE49-F238E27FC236}">
                <ns2:creationId id="{8E85FD87-27F6-4268-9DF4-162D33171FCD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72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72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72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72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72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72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72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72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72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pPr>
            <a:r>
              <a:rPr sz="1725" b="0">
                <a:solidFill>
                  <a:srgbClr val="55D8C1"/>
                </a:solidFill>
                <a:latin typeface="Epilogue"/>
                <a:ea typeface="Epilogue"/>
                <a:cs typeface="Epilogue"/>
              </a:rPr>
              <a:t>We measure audio quality and word errors on the same recordings.</a:t>
            </a:r>
          </a:p>
        </p:txBody>
      </p:sp>
    </p:spTree>
    <p:extLst>
      <p:ext uri="{BB962C8B-B14F-4D97-AF65-F5344CB8AC3E}">
        <ns3:creationId val="703966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aset &amp; Preprocessing">
            <a:extLst xmlns:a="http://schemas.openxmlformats.org/drawingml/2006/main">
              <a:ext uri="{FF2B5EF4-FFF2-40B4-BE49-F238E27FC236}">
                <a16:creationId xmlns:a16="http://schemas.microsoft.com/office/drawing/2014/main" id="{5051207B-5779-4987-95DC-02010340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Dataset &amp; Preprocessing</a:t>
            </a:r>
          </a:p>
        </p:txBody>
      </p:sp>
      <p:sp>
        <p:nvSpPr>
          <p:cNvPr id="3" name="VoiceBank+DEMAND provides paired clean and noisy recordings of English">
            <a:extLst xmlns:a="http://schemas.openxmlformats.org/drawingml/2006/main">
              <a:ext uri="{FF2B5EF4-FFF2-40B4-BE49-F238E27FC236}">
                <a16:creationId xmlns:a16="http://schemas.microsoft.com/office/drawing/2014/main" id="{DF0FCD36-01EB-4222-AD3D-962E65B3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  <a:r>
              <a:rPr sz="1425" b="0">
                <a:solidFill>
                  <a:srgbClr val="AAB6DB"/>
                </a:solidFill>
                <a:latin typeface="Epilogue"/>
                <a:ea typeface="Epilogue"/>
                <a:cs typeface="Epilogue"/>
              </a:rPr>
              <a:t>VoiceBank+DEMAND provides paired clean and noisy recordings of English speech.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94DC8-7F0F-40B0-A775-778DD1BDB754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714500"/>
                <a:gridCol w="1809750"/>
                <a:gridCol w="5334000"/>
              </a:tblGrid>
              <a:tr h="5953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Epilogue"/>
                          <a:ea typeface="Epilogue"/>
                          <a:cs typeface="Epilogue"/>
                        </a:rPr>
                        <a:t>Partition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T w="9525">
                      <a:solidFill>
                        <a:srgbClr val="414A70"/>
                      </a:solidFill>
                      <a:prstDash val="solid"/>
                    </a:lnT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2831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Epilogue"/>
                          <a:ea typeface="Epilogue"/>
                          <a:cs typeface="Epilogue"/>
                        </a:rPr>
                        <a:t>Recordings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T w="9525">
                      <a:solidFill>
                        <a:srgbClr val="414A70"/>
                      </a:solidFill>
                      <a:prstDash val="solid"/>
                    </a:lnT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2831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Epilogue"/>
                          <a:ea typeface="Epilogue"/>
                          <a:cs typeface="Epilogue"/>
                        </a:rPr>
                        <a:t>Speakers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T w="9525">
                      <a:solidFill>
                        <a:srgbClr val="414A70"/>
                      </a:solidFill>
                      <a:prstDash val="solid"/>
                    </a:lnT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2831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Epilogue"/>
                          <a:ea typeface="Epilogue"/>
                          <a:cs typeface="Epilogue"/>
                        </a:rPr>
                        <a:t>Purpose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T w="9525">
                      <a:solidFill>
                        <a:srgbClr val="414A70"/>
                      </a:solidFill>
                      <a:prstDash val="solid"/>
                    </a:lnT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28315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Training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10,700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26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The model learns its weights.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Validation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872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2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Validation loss selects the checkpoint.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Test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824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2 unseen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The final systems use identical test data.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</a:tr>
            </a:tbl>
          </a:graphicData>
        </a:graphic>
      </p:graphicFrame>
      <p:sp>
        <p:nvSpPr>
          <p:cNvPr id="5" name="Audio preparation">
            <a:extLst xmlns:a="http://schemas.openxmlformats.org/drawingml/2006/main">
              <a:ext uri="{FF2B5EF4-FFF2-40B4-BE49-F238E27FC236}">
                <a16:creationId xmlns:a16="http://schemas.microsoft.com/office/drawing/2014/main" id="{772D5FCB-F129-47B8-AEAB-E0BF2FD9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Audio preparation</a:t>
            </a:r>
          </a:p>
        </p:txBody>
      </p:sp>
      <p:sp>
        <p:nvSpPr>
          <p:cNvPr id="6" name="We convert each recording to 16 kHz mono audio. STFT turns the wavefor">
            <a:extLst xmlns:a="http://schemas.openxmlformats.org/drawingml/2006/main">
              <a:ext uri="{FF2B5EF4-FFF2-40B4-BE49-F238E27FC236}">
                <a16:creationId xmlns:a16="http://schemas.microsoft.com/office/drawing/2014/main" id="{CF22FDBD-9FA7-4F91-BF35-DC960D5F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5095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72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We convert each recording to 16 kHz mono audio. STFT turns the waveform into a spectrogram showing frequency patterns over time.</a:t>
            </a:r>
          </a:p>
        </p:txBody>
      </p:sp>
      <p:sp>
        <p:nvSpPr>
          <p:cNvPr id="7" name="Input to the model">
            <a:extLst xmlns:a="http://schemas.openxmlformats.org/drawingml/2006/main">
              <a:ext uri="{FF2B5EF4-FFF2-40B4-BE49-F238E27FC236}">
                <a16:creationId xmlns:a16="http://schemas.microsoft.com/office/drawing/2014/main" id="{DBFD514D-ADD2-41B7-8135-0EF32F11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529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Input to the model</a:t>
            </a:r>
          </a:p>
        </p:txBody>
      </p:sp>
      <p:sp>
        <p:nvSpPr>
          <p:cNvPr id="8" name="Training uses paired clean and noisy clips of about one second. Each s">
            <a:extLst xmlns:a="http://schemas.openxmlformats.org/drawingml/2006/main">
              <a:ext uri="{FF2B5EF4-FFF2-40B4-BE49-F238E27FC236}">
                <a16:creationId xmlns:a16="http://schemas.microsoft.com/office/drawing/2014/main" id="{F795AB9D-3E0C-44A8-96F5-7B35D73F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5143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72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Training uses paired clean and noisy clips of about one second. Each spectrogram has 257 frequency bins. Testing uses complete recordings.</a:t>
            </a:r>
          </a:p>
        </p:txBody>
      </p:sp>
    </p:spTree>
    <p:extLst>
      <p:ext uri="{BB962C8B-B14F-4D97-AF65-F5344CB8AC3E}">
        <p14:creationId xmlns:p14="http://schemas.microsoft.com/office/powerpoint/2010/main" val="4975678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62958-F2BB-48D8-BAD4-C285CAEBBAA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763000" y="61341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8C1"/>
            </a:solidFill>
            <a:prstDash val="solid"/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C419B-DE09-4F53-A7E1-FCECAA1BF04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24500" y="61341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BEFF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47989-0669-4C47-B001-95BF7526209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52750" y="61341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BEFF"/>
            </a:solidFill>
            <a:prstDash val="solid"/>
            <a:tailEnd type="triangle" w="sm" len="sm"/>
          </a:ln>
        </p:spPr>
      </p:cxnSp>
      <p:sp>
        <p:nvSpPr>
          <p:cNvPr id="5" name="Speech Enhancement Workflow">
            <a:extLst xmlns:a="http://schemas.openxmlformats.org/drawingml/2006/main">
              <a:ext uri="{FF2B5EF4-FFF2-40B4-BE49-F238E27FC236}">
                <a16:creationId xmlns:a16="http://schemas.microsoft.com/office/drawing/2014/main" id="{16AED56C-E45E-4CC6-9879-40220F4F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Speech Enhancement Workflow</a:t>
            </a:r>
          </a:p>
        </p:txBody>
      </p:sp>
      <p:sp>
        <p:nvSpPr>
          <p:cNvPr id="6" name="The full system combines audio enhancement, automatic speech recogniti">
            <a:extLst xmlns:a="http://schemas.openxmlformats.org/drawingml/2006/main">
              <a:ext uri="{FF2B5EF4-FFF2-40B4-BE49-F238E27FC236}">
                <a16:creationId xmlns:a16="http://schemas.microsoft.com/office/drawing/2014/main" id="{172012F0-603A-48C2-82DA-593EE95A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  <a:r>
              <a:rPr sz="1425" b="0">
                <a:solidFill>
                  <a:srgbClr val="AAB6DB"/>
                </a:solidFill>
                <a:latin typeface="Epilogue"/>
                <a:ea typeface="Epilogue"/>
                <a:cs typeface="Epilogue"/>
              </a:rPr>
              <a:t>The full system combines audio enhancement, automatic speech recognition (ASR), and optional text correction.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AD9DD-BD9D-44E5-965C-11E915150B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35ed39f9e49c5"/>
          <a:stretch xmlns:a="http://schemas.openxmlformats.org/drawingml/2006/main"/>
        </p:blipFill>
        <p:spPr>
          <a:xfrm xmlns:a="http://schemas.openxmlformats.org/drawingml/2006/main">
            <a:off x="479823" y="1666875"/>
            <a:ext cx="11232353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Original or enhanced">
            <a:extLst xmlns:a="http://schemas.openxmlformats.org/drawingml/2006/main">
              <a:ext uri="{FF2B5EF4-FFF2-40B4-BE49-F238E27FC236}">
                <a16:creationId xmlns:a16="http://schemas.microsoft.com/office/drawing/2014/main" id="{05680B6C-2E16-4402-A6D2-309878AC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80E26"/>
          </a:solidFill>
          <a:ln xmlns:a="http://schemas.openxmlformats.org/drawingml/2006/main" w="17145">
            <a:solidFill>
              <a:srgbClr val="B6A9E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Original or enhanced</a:t>
            </a:r>
          </a:p>
          <a:p xmlns:a="http://schemas.openxmlformats.org/drawingml/2006/main">
            <a: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audio</a:t>
            </a:r>
          </a:p>
        </p:txBody>
      </p:sp>
      <p:sp>
        <p:nvSpPr>
          <p:cNvPr id="9" name="Whisper base.en">
            <a:extLst xmlns:a="http://schemas.openxmlformats.org/drawingml/2006/main">
              <a:ext uri="{FF2B5EF4-FFF2-40B4-BE49-F238E27FC236}">
                <a16:creationId xmlns:a16="http://schemas.microsoft.com/office/drawing/2014/main" id="{0F396FEB-906F-491C-9443-B3938801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38825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80E26"/>
          </a:solidFill>
          <a:ln xmlns:a="http://schemas.openxmlformats.org/drawingml/2006/main" w="17145">
            <a:solidFill>
              <a:srgbClr val="67BEFF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Whisper base.en</a:t>
            </a:r>
          </a:p>
          <a:p xmlns:a="http://schemas.openxmlformats.org/drawingml/2006/main">
            <a: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Speech to text</a:t>
            </a:r>
          </a:p>
        </p:txBody>
      </p:sp>
      <p:sp>
        <p:nvSpPr>
          <p:cNvPr id="10" name="Pronunciation + GPT-2">
            <a:extLst xmlns:a="http://schemas.openxmlformats.org/drawingml/2006/main">
              <a:ext uri="{FF2B5EF4-FFF2-40B4-BE49-F238E27FC236}">
                <a16:creationId xmlns:a16="http://schemas.microsoft.com/office/drawing/2014/main" id="{1E655507-BAF2-496F-8FFD-48B39D38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3882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80E26"/>
          </a:solidFill>
          <a:ln xmlns:a="http://schemas.openxmlformats.org/drawingml/2006/main" w="17145">
            <a:solidFill>
              <a:srgbClr val="55D8C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Pronunciation + GPT-2</a:t>
            </a:r>
          </a:p>
          <a:p xmlns:a="http://schemas.openxmlformats.org/drawingml/2006/main">
            <a: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Optional text correction</a:t>
            </a:r>
          </a:p>
        </p:txBody>
      </p:sp>
      <p:sp>
        <p:nvSpPr>
          <p:cNvPr id="11" name="Final transcript">
            <a:extLst xmlns:a="http://schemas.openxmlformats.org/drawingml/2006/main">
              <a:ext uri="{FF2B5EF4-FFF2-40B4-BE49-F238E27FC236}">
                <a16:creationId xmlns:a16="http://schemas.microsoft.com/office/drawing/2014/main" id="{9D80399D-E335-4760-A9FC-302FF293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3882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80E26"/>
          </a:solidFill>
          <a:ln xmlns:a="http://schemas.openxmlformats.org/drawingml/2006/main" w="17145">
            <a:solidFill>
              <a:srgbClr val="55D8C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Final transcript</a:t>
            </a:r>
          </a:p>
        </p:txBody>
      </p:sp>
    </p:spTree>
    <p:extLst>
      <p:ext uri="{BB962C8B-B14F-4D97-AF65-F5344CB8AC3E}">
        <p14:creationId xmlns:p14="http://schemas.microsoft.com/office/powerpoint/2010/main" val="1988683140"/>
      </p:ext>
    </p:extLst>
  </p:cSld>
</p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80E26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U-Net Architecture &amp; Training">
            <ns1:extLst>
              <ns1:ext uri="{FF2B5EF4-FFF2-40B4-BE49-F238E27FC236}">
                <ns2:creationId id="{A384B48A-0734-4F5B-8AFA-EFDAD3BAD0D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04825"/>
            <ns1:ext cx="10858500" cy="6381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3150" b="0">
                <ns1:solidFill>
                  <ns1:srgbClr val="FFFFFF"/>
                </ns1:solidFill>
                <ns1:latin typeface="Fraunces Medium"/>
                <ns1:ea typeface="Fraunces Medium"/>
                <ns1:cs typeface="Fraunces Medium"/>
              </ns1:defRPr>
            </ns1:defPPr>
            <ns1:lvl1pPr algn="l">
              <ns1:defRPr sz="3150" b="0">
                <ns1:solidFill>
                  <ns1:srgbClr val="FFFFFF"/>
                </ns1:solidFill>
                <ns1:latin typeface="Fraunces Medium"/>
                <ns1:ea typeface="Fraunces Medium"/>
                <ns1:cs typeface="Fraunces Medium"/>
              </ns1:defRPr>
            </ns1:lvl1pPr>
            <ns1:lvl2pPr algn="l">
              <ns1:defRPr sz="3150" b="0">
                <ns1:solidFill>
                  <ns1:srgbClr val="FFFFFF"/>
                </ns1:solidFill>
                <ns1:latin typeface="Fraunces Medium"/>
                <ns1:ea typeface="Fraunces Medium"/>
                <ns1:cs typeface="Fraunces Medium"/>
              </ns1:defRPr>
            </ns1:lvl2pPr>
            <ns1:lvl3pPr algn="l">
              <ns1:defRPr sz="3150" b="0">
                <ns1:solidFill>
                  <ns1:srgbClr val="FFFFFF"/>
                </ns1:solidFill>
                <ns1:latin typeface="Fraunces Medium"/>
                <ns1:ea typeface="Fraunces Medium"/>
                <ns1:cs typeface="Fraunces Medium"/>
              </ns1:defRPr>
            </ns1:lvl3pPr>
            <ns1:lvl4pPr algn="l">
              <ns1:defRPr sz="3150" b="0">
                <ns1:solidFill>
                  <ns1:srgbClr val="FFFFFF"/>
                </ns1:solidFill>
                <ns1:latin typeface="Fraunces Medium"/>
                <ns1:ea typeface="Fraunces Medium"/>
                <ns1:cs typeface="Fraunces Medium"/>
              </ns1:defRPr>
            </ns1:lvl4pPr>
            <ns1:lvl5pPr algn="l">
              <ns1:defRPr sz="3150" b="0">
                <ns1:solidFill>
                  <ns1:srgbClr val="FFFFFF"/>
                </ns1:solidFill>
                <ns1:latin typeface="Fraunces Medium"/>
                <ns1:ea typeface="Fraunces Medium"/>
                <ns1:cs typeface="Fraunces Medium"/>
              </ns1:defRPr>
            </ns1:lvl5pPr>
            <ns1:lvl6pPr algn="l">
              <ns1:defRPr sz="3150" b="0">
                <ns1:solidFill>
                  <ns1:srgbClr val="FFFFFF"/>
                </ns1:solidFill>
                <ns1:latin typeface="Fraunces Medium"/>
                <ns1:ea typeface="Fraunces Medium"/>
                <ns1:cs typeface="Fraunces Medium"/>
              </ns1:defRPr>
            </ns1:lvl6pPr>
            <ns1:lvl7pPr algn="l">
              <ns1:defRPr sz="3150" b="0">
                <ns1:solidFill>
                  <ns1:srgbClr val="FFFFFF"/>
                </ns1:solidFill>
                <ns1:latin typeface="Fraunces Medium"/>
                <ns1:ea typeface="Fraunces Medium"/>
                <ns1:cs typeface="Fraunces Medium"/>
              </ns1:defRPr>
            </ns1:lvl7pPr>
            <ns1:lvl8pPr algn="l">
              <ns1:defRPr sz="3150" b="0">
                <ns1:solidFill>
                  <ns1:srgbClr val="FFFFFF"/>
                </ns1:solidFill>
                <ns1:latin typeface="Fraunces Medium"/>
                <ns1:ea typeface="Fraunces Medium"/>
                <ns1:cs typeface="Fraunces Medium"/>
              </ns1:defRPr>
            </ns1:lvl8pPr>
            <ns1:lvl9pPr algn="l">
              <ns1:defRPr sz="3150" b="0">
                <ns1:solidFill>
                  <ns1:srgbClr val="FFFFFF"/>
                </ns1:solidFill>
                <ns1:latin typeface="Fraunces Medium"/>
                <ns1:ea typeface="Fraunces Medium"/>
                <ns1:cs typeface="Fraunces Medium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3150" b="0">
                <ns1:solidFill>
                  <ns1:srgbClr val="FFFFFF"/>
                </ns1:solidFill>
                <ns1:latin typeface="Fraunces Medium"/>
                <ns1:ea typeface="Fraunces Medium"/>
                <ns1:cs typeface="Fraunces Medium"/>
              </ns1:defRPr>
            </ns1:pPr>
            <ns1:r>
              <ns1:rPr sz="3150" b="0">
                <ns1:solidFill>
                  <ns1:srgbClr val="FFFFFF"/>
                </ns1:solidFill>
                <ns1:latin typeface="Fraunces Medium"/>
                <ns1:ea typeface="Fraunces Medium"/>
                <ns1:cs typeface="Fraunces Medium"/>
              </ns1:rPr>
              <ns1:t>U-Net Architecture &amp; Training</ns1:t>
            </ns1:r>
          </ns1:p>
        </ns0:txBody>
      </ns0:sp>
      <ns0:sp>
        <ns0:nvSpPr>
          <ns0:cNvPr id="12" name="The encoder learns speech patterns. The decoder restores detail and pr">
            <ns1:extLst>
              <ns1:ext uri="{FF2B5EF4-FFF2-40B4-BE49-F238E27FC236}">
                <ns2:creationId id="{0D0E5827-9C1D-4ACD-8AC1-8617615EF4F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200150"/>
            <ns1:ext cx="10810875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defPPr>
            <ns1:lvl1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1pPr>
            <ns1:lvl2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2pPr>
            <ns1:lvl3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3pPr>
            <ns1:lvl4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4pPr>
            <ns1:lvl5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5pPr>
            <ns1:lvl6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6pPr>
            <ns1:lvl7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7pPr>
            <ns1:lvl8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8pPr>
            <ns1:lvl9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pPr>
            <ns1:r>
              <ns1: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rPr>
              <ns1:t>The encoder learns speech patterns. The decoder restores detail and predicts a noise-suppression mask.</ns1:t>
            </ns1:r>
          </ns1:p>
        </ns0:txBody>
      </ns0:sp>
      <ns0:sp>
        <ns0:nvSpPr>
          <ns0:cNvPr id="13" name="Encoder">
            <ns1:extLst>
              <ns1:ext uri="{FF2B5EF4-FFF2-40B4-BE49-F238E27FC236}">
                <ns2:creationId id="{A230D72A-F93F-4F5E-8C19-DA572BAA1BB8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2057400"/>
            <ns1:ext cx="1409700" cy="742950"/>
          </ns1:xfrm>
          <ns1:prstGeom prst="roundRect">
            <ns1:avLst>
              <ns1:gd name="adj" fmla="val 10256"/>
            </ns1:avLst>
          </ns1:prstGeom>
          <ns1:solidFill>
            <ns1:srgbClr val="080E26"/>
          </ns1:solidFill>
          <ns1:ln w="17145">
            <ns1:solidFill>
              <ns1:srgbClr val="67BEFF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defPPr>
            <ns1:lvl1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1pPr>
            <ns1:lvl2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2pPr>
            <ns1:lvl3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3pPr>
            <ns1:lvl4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4pPr>
            <ns1:lvl5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5pPr>
            <ns1:lvl6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6pPr>
            <ns1:lvl7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7pPr>
            <ns1:lvl8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8pPr>
            <ns1:lvl9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Encoder</ns1:t>
            </ns1:r>
          </ns1:p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16 channels</ns1:t>
            </ns1:r>
          </ns1:p>
        </ns0:txBody>
      </ns0:sp>
      <ns0:sp>
        <ns0:nvSpPr>
          <ns0:cNvPr id="14" name="Encoder">
            <ns1:extLst>
              <ns1:ext uri="{FF2B5EF4-FFF2-40B4-BE49-F238E27FC236}">
                <ns2:creationId id="{B6E86A24-A6D4-452A-9B31-23BCE018D48B}"/>
              </ns1:ext>
            </ns1:extLst>
          </ns0:cNvPr>
          <ns0:cNvSpPr>
            <ns1:spLocks noGrp="1"/>
          </ns0:cNvSpPr>
          <ns0:nvPr/>
        </ns0:nvSpPr>
        <ns0:spPr>
          <ns1:xfrm>
            <ns1:off x="2266950" y="2838450"/>
            <ns1:ext cx="1409700" cy="742950"/>
          </ns1:xfrm>
          <ns1:prstGeom prst="roundRect">
            <ns1:avLst>
              <ns1:gd name="adj" fmla="val 10256"/>
            </ns1:avLst>
          </ns1:prstGeom>
          <ns1:solidFill>
            <ns1:srgbClr val="080E26"/>
          </ns1:solidFill>
          <ns1:ln w="17145">
            <ns1:solidFill>
              <ns1:srgbClr val="67BEFF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defPPr>
            <ns1:lvl1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1pPr>
            <ns1:lvl2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2pPr>
            <ns1:lvl3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3pPr>
            <ns1:lvl4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4pPr>
            <ns1:lvl5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5pPr>
            <ns1:lvl6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6pPr>
            <ns1:lvl7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7pPr>
            <ns1:lvl8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8pPr>
            <ns1:lvl9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Encoder</ns1:t>
            </ns1:r>
          </ns1:p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32 channels</ns1:t>
            </ns1:r>
          </ns1:p>
        </ns0:txBody>
      </ns0:sp>
      <ns0:sp>
        <ns0:nvSpPr>
          <ns0:cNvPr id="15" name="Encoder">
            <ns1:extLst>
              <ns1:ext uri="{FF2B5EF4-FFF2-40B4-BE49-F238E27FC236}">
                <ns2:creationId id="{589ABECC-CF36-43BD-8F5C-10142C5837A4}"/>
              </ns1:ext>
            </ns1:extLst>
          </ns0:cNvPr>
          <ns0:cNvSpPr>
            <ns1:spLocks noGrp="1"/>
          </ns0:cNvSpPr>
          <ns0:nvPr/>
        </ns0:nvSpPr>
        <ns0:spPr>
          <ns1:xfrm>
            <ns1:off x="3819525" y="3619500"/>
            <ns1:ext cx="1409700" cy="742950"/>
          </ns1:xfrm>
          <ns1:prstGeom prst="roundRect">
            <ns1:avLst>
              <ns1:gd name="adj" fmla="val 10256"/>
            </ns1:avLst>
          </ns1:prstGeom>
          <ns1:solidFill>
            <ns1:srgbClr val="080E26"/>
          </ns1:solidFill>
          <ns1:ln w="17145">
            <ns1:solidFill>
              <ns1:srgbClr val="67BEFF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defPPr>
            <ns1:lvl1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1pPr>
            <ns1:lvl2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2pPr>
            <ns1:lvl3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3pPr>
            <ns1:lvl4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4pPr>
            <ns1:lvl5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5pPr>
            <ns1:lvl6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6pPr>
            <ns1:lvl7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7pPr>
            <ns1:lvl8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8pPr>
            <ns1:lvl9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Encoder</ns1:t>
            </ns1:r>
          </ns1:p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64 channels</ns1:t>
            </ns1:r>
          </ns1:p>
        </ns0:txBody>
      </ns0:sp>
      <ns0:sp>
        <ns0:nvSpPr>
          <ns0:cNvPr id="16" name="Bottleneck">
            <ns1:extLst>
              <ns1:ext uri="{FF2B5EF4-FFF2-40B4-BE49-F238E27FC236}">
                <ns2:creationId id="{0B961B3F-397D-4A76-AF52-9EC1B2AD462B}"/>
              </ns1:ext>
            </ns1:extLst>
          </ns0:cNvPr>
          <ns0:cNvSpPr>
            <ns1:spLocks noGrp="1"/>
          </ns0:cNvSpPr>
          <ns0:nvPr/>
        </ns0:nvSpPr>
        <ns0:spPr>
          <ns1:xfrm>
            <ns1:off x="5372100" y="4400550"/>
            <ns1:ext cx="1409700" cy="742950"/>
          </ns1:xfrm>
          <ns1:prstGeom prst="roundRect">
            <ns1:avLst>
              <ns1:gd name="adj" fmla="val 10256"/>
            </ns1:avLst>
          </ns1:prstGeom>
          <ns1:solidFill>
            <ns1:srgbClr val="080E26"/>
          </ns1:solidFill>
          <ns1:ln w="17145">
            <ns1:solidFill>
              <ns1:srgbClr val="67BEFF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defPPr>
            <ns1:lvl1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1pPr>
            <ns1:lvl2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2pPr>
            <ns1:lvl3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3pPr>
            <ns1:lvl4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4pPr>
            <ns1:lvl5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5pPr>
            <ns1:lvl6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6pPr>
            <ns1:lvl7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7pPr>
            <ns1:lvl8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8pPr>
            <ns1:lvl9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Bottleneck</ns1:t>
            </ns1:r>
          </ns1:p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128 channels</ns1:t>
            </ns1:r>
          </ns1:p>
        </ns0:txBody>
      </ns0:sp>
      <ns0:sp>
        <ns0:nvSpPr>
          <ns0:cNvPr id="17" name="Decoder">
            <ns1:extLst>
              <ns1:ext uri="{FF2B5EF4-FFF2-40B4-BE49-F238E27FC236}">
                <ns2:creationId id="{2821EB70-BCF4-479A-8239-A5BA891F961D}"/>
              </ns1:ext>
            </ns1:extLst>
          </ns0:cNvPr>
          <ns0:cNvSpPr>
            <ns1:spLocks noGrp="1"/>
          </ns0:cNvSpPr>
          <ns0:nvPr/>
        </ns0:nvSpPr>
        <ns0:spPr>
          <ns1:xfrm>
            <ns1:off x="6924675" y="3619500"/>
            <ns1:ext cx="1409700" cy="742950"/>
          </ns1:xfrm>
          <ns1:prstGeom prst="roundRect">
            <ns1:avLst>
              <ns1:gd name="adj" fmla="val 10256"/>
            </ns1:avLst>
          </ns1:prstGeom>
          <ns1:solidFill>
            <ns1:srgbClr val="080E26"/>
          </ns1:solidFill>
          <ns1:ln w="17145">
            <ns1:solidFill>
              <ns1:srgbClr val="55D8C1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defPPr>
            <ns1:lvl1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1pPr>
            <ns1:lvl2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2pPr>
            <ns1:lvl3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3pPr>
            <ns1:lvl4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4pPr>
            <ns1:lvl5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5pPr>
            <ns1:lvl6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6pPr>
            <ns1:lvl7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7pPr>
            <ns1:lvl8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8pPr>
            <ns1:lvl9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Decoder</ns1:t>
            </ns1:r>
          </ns1:p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64 channels</ns1:t>
            </ns1:r>
          </ns1:p>
        </ns0:txBody>
      </ns0:sp>
      <ns0:sp>
        <ns0:nvSpPr>
          <ns0:cNvPr id="18" name="Decoder">
            <ns1:extLst>
              <ns1:ext uri="{FF2B5EF4-FFF2-40B4-BE49-F238E27FC236}">
                <ns2:creationId id="{C590AA19-7400-41FA-AEC8-30114508E03F}"/>
              </ns1:ext>
            </ns1:extLst>
          </ns0:cNvPr>
          <ns0:cNvSpPr>
            <ns1:spLocks noGrp="1"/>
          </ns0:cNvSpPr>
          <ns0:nvPr/>
        </ns0:nvSpPr>
        <ns0:spPr>
          <ns1:xfrm>
            <ns1:off x="8477250" y="2838450"/>
            <ns1:ext cx="1409700" cy="742950"/>
          </ns1:xfrm>
          <ns1:prstGeom prst="roundRect">
            <ns1:avLst>
              <ns1:gd name="adj" fmla="val 10256"/>
            </ns1:avLst>
          </ns1:prstGeom>
          <ns1:solidFill>
            <ns1:srgbClr val="080E26"/>
          </ns1:solidFill>
          <ns1:ln w="17145">
            <ns1:solidFill>
              <ns1:srgbClr val="55D8C1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defPPr>
            <ns1:lvl1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1pPr>
            <ns1:lvl2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2pPr>
            <ns1:lvl3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3pPr>
            <ns1:lvl4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4pPr>
            <ns1:lvl5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5pPr>
            <ns1:lvl6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6pPr>
            <ns1:lvl7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7pPr>
            <ns1:lvl8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8pPr>
            <ns1:lvl9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Decoder</ns1:t>
            </ns1:r>
          </ns1:p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32 channels</ns1:t>
            </ns1:r>
          </ns1:p>
        </ns0:txBody>
      </ns0:sp>
      <ns0:sp>
        <ns0:nvSpPr>
          <ns0:cNvPr id="19" name="Decoder">
            <ns1:extLst>
              <ns1:ext uri="{FF2B5EF4-FFF2-40B4-BE49-F238E27FC236}">
                <ns2:creationId id="{13C4579E-8CAA-48B8-9D2C-FE941C396E7A}"/>
              </ns1:ext>
            </ns1:extLst>
          </ns0:cNvPr>
          <ns0:cNvSpPr>
            <ns1:spLocks noGrp="1"/>
          </ns0:cNvSpPr>
          <ns0:nvPr/>
        </ns0:nvSpPr>
        <ns0:spPr>
          <ns1:xfrm>
            <ns1:off x="10029825" y="2057400"/>
            <ns1:ext cx="1409700" cy="742950"/>
          </ns1:xfrm>
          <ns1:prstGeom prst="roundRect">
            <ns1:avLst>
              <ns1:gd name="adj" fmla="val 10256"/>
            </ns1:avLst>
          </ns1:prstGeom>
          <ns1:solidFill>
            <ns1:srgbClr val="080E26"/>
          </ns1:solidFill>
          <ns1:ln w="17145">
            <ns1:solidFill>
              <ns1:srgbClr val="55D8C1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defPPr>
            <ns1:lvl1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1pPr>
            <ns1:lvl2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2pPr>
            <ns1:lvl3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3pPr>
            <ns1:lvl4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4pPr>
            <ns1:lvl5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5pPr>
            <ns1:lvl6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6pPr>
            <ns1:lvl7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7pPr>
            <ns1:lvl8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8pPr>
            <ns1:lvl9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Decoder</ns1:t>
            </ns1:r>
          </ns1:p>
          <ns1:p>
            <ns1:pPr algn="ctr">
              <ns1:def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16 channels</ns1:t>
            </ns1:r>
          </ns1:p>
        </ns0:txBody>
      </ns0:sp>
      <ns0:sp>
        <ns0:nvSpPr>
          <ns0:cNvPr id="20" name="Skip connections carry fine speech details to the decoder">
            <ns1:extLst>
              <ns1:ext uri="{FF2B5EF4-FFF2-40B4-BE49-F238E27FC236}">
                <ns2:creationId id="{403359A1-A094-4F6B-A277-E809573E81A0}"/>
              </ns1:ext>
            </ns1:extLst>
          </ns0:cNvPr>
          <ns0:cNvSpPr>
            <ns1:spLocks noGrp="1"/>
          </ns0:cNvSpPr>
          <ns0:nvPr/>
        </ns0:nvSpPr>
        <ns0:spPr>
          <ns1:xfrm>
            <ns1:off x="3476625" y="1743075"/>
            <ns1:ext cx="61912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425" b="0">
                <ns1:solidFill>
                  <ns1:srgbClr val="B6A9EE"/>
                </ns1:solidFill>
                <ns1:latin typeface="Epilogue"/>
                <ns1:ea typeface="Epilogue"/>
                <ns1:cs typeface="Epilogue"/>
              </ns1:defRPr>
            </ns1:defPPr>
            <ns1:lvl1pPr algn="l">
              <ns1:defRPr sz="1425" b="0">
                <ns1:solidFill>
                  <ns1:srgbClr val="B6A9EE"/>
                </ns1:solidFill>
                <ns1:latin typeface="Epilogue"/>
                <ns1:ea typeface="Epilogue"/>
                <ns1:cs typeface="Epilogue"/>
              </ns1:defRPr>
            </ns1:lvl1pPr>
            <ns1:lvl2pPr algn="l">
              <ns1:defRPr sz="1425" b="0">
                <ns1:solidFill>
                  <ns1:srgbClr val="B6A9EE"/>
                </ns1:solidFill>
                <ns1:latin typeface="Epilogue"/>
                <ns1:ea typeface="Epilogue"/>
                <ns1:cs typeface="Epilogue"/>
              </ns1:defRPr>
            </ns1:lvl2pPr>
            <ns1:lvl3pPr algn="l">
              <ns1:defRPr sz="1425" b="0">
                <ns1:solidFill>
                  <ns1:srgbClr val="B6A9EE"/>
                </ns1:solidFill>
                <ns1:latin typeface="Epilogue"/>
                <ns1:ea typeface="Epilogue"/>
                <ns1:cs typeface="Epilogue"/>
              </ns1:defRPr>
            </ns1:lvl3pPr>
            <ns1:lvl4pPr algn="l">
              <ns1:defRPr sz="1425" b="0">
                <ns1:solidFill>
                  <ns1:srgbClr val="B6A9EE"/>
                </ns1:solidFill>
                <ns1:latin typeface="Epilogue"/>
                <ns1:ea typeface="Epilogue"/>
                <ns1:cs typeface="Epilogue"/>
              </ns1:defRPr>
            </ns1:lvl4pPr>
            <ns1:lvl5pPr algn="l">
              <ns1:defRPr sz="1425" b="0">
                <ns1:solidFill>
                  <ns1:srgbClr val="B6A9EE"/>
                </ns1:solidFill>
                <ns1:latin typeface="Epilogue"/>
                <ns1:ea typeface="Epilogue"/>
                <ns1:cs typeface="Epilogue"/>
              </ns1:defRPr>
            </ns1:lvl5pPr>
            <ns1:lvl6pPr algn="l">
              <ns1:defRPr sz="1425" b="0">
                <ns1:solidFill>
                  <ns1:srgbClr val="B6A9EE"/>
                </ns1:solidFill>
                <ns1:latin typeface="Epilogue"/>
                <ns1:ea typeface="Epilogue"/>
                <ns1:cs typeface="Epilogue"/>
              </ns1:defRPr>
            </ns1:lvl6pPr>
            <ns1:lvl7pPr algn="l">
              <ns1:defRPr sz="1425" b="0">
                <ns1:solidFill>
                  <ns1:srgbClr val="B6A9EE"/>
                </ns1:solidFill>
                <ns1:latin typeface="Epilogue"/>
                <ns1:ea typeface="Epilogue"/>
                <ns1:cs typeface="Epilogue"/>
              </ns1:defRPr>
            </ns1:lvl7pPr>
            <ns1:lvl8pPr algn="l">
              <ns1:defRPr sz="1425" b="0">
                <ns1:solidFill>
                  <ns1:srgbClr val="B6A9EE"/>
                </ns1:solidFill>
                <ns1:latin typeface="Epilogue"/>
                <ns1:ea typeface="Epilogue"/>
                <ns1:cs typeface="Epilogue"/>
              </ns1:defRPr>
            </ns1:lvl8pPr>
            <ns1:lvl9pPr algn="l">
              <ns1:defRPr sz="1425" b="0">
                <ns1:solidFill>
                  <ns1:srgbClr val="B6A9EE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425" b="0">
                <ns1:solidFill>
                  <ns1:srgbClr val="B6A9EE"/>
                </ns1:solidFill>
                <ns1:latin typeface="Epilogue"/>
                <ns1:ea typeface="Epilogue"/>
                <ns1:cs typeface="Epilogue"/>
              </ns1:defRPr>
            </ns1:pPr>
            <ns1:r>
              <ns1:rPr sz="1425" b="0">
                <ns1:solidFill>
                  <ns1:srgbClr val="B6A9EE"/>
                </ns1:solidFill>
                <ns1:latin typeface="Epilogue"/>
                <ns1:ea typeface="Epilogue"/>
                <ns1:cs typeface="Epilogue"/>
              </ns1:rPr>
              <ns1:t>Skip connections carry fine speech details to the decoder</ns1:t>
            </ns1:r>
          </ns1:p>
        </ns0:txBody>
      </ns0:sp>
      <ns0:sp>
        <ns0:nvSpPr>
          <ns0:cNvPr id="21" name="Magnitude input">
            <ns1:extLst>
              <ns1:ext uri="{FF2B5EF4-FFF2-40B4-BE49-F238E27FC236}">
                <ns2:creationId id="{889613A6-068F-47CC-9A03-D34E138152ED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1619250"/>
            <ns1:ext cx="23336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defPPr>
            <ns1:lvl1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1pPr>
            <ns1:lvl2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2pPr>
            <ns1:lvl3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3pPr>
            <ns1:lvl4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4pPr>
            <ns1:lvl5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5pPr>
            <ns1:lvl6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6pPr>
            <ns1:lvl7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7pPr>
            <ns1:lvl8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8pPr>
            <ns1:lvl9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pPr>
            <ns1:r>
              <ns1: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rPr>
              <ns1:t>Magnitude input</ns1:t>
            </ns1:r>
          </ns1:p>
        </ns0:txBody>
      </ns0:sp>
      <ns0:sp>
        <ns0:nvSpPr>
          <ns0:cNvPr id="22" name="Sigmoid mask">
            <ns1:extLst>
              <ns1:ext uri="{FF2B5EF4-FFF2-40B4-BE49-F238E27FC236}">
                <ns2:creationId id="{B071EDD6-A442-48C5-9CB0-C0AA6D2D19E1}"/>
              </ns1:ext>
            </ns1:extLst>
          </ns0:cNvPr>
          <ns0:cNvSpPr>
            <ns1:spLocks noGrp="1"/>
          </ns0:cNvSpPr>
          <ns0:nvPr/>
        </ns0:nvSpPr>
        <ns0:spPr>
          <ns1:xfrm>
            <ns1:off x="9667875" y="1619250"/>
            <ns1:ext cx="2095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defPPr>
            <ns1:lvl1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1pPr>
            <ns1:lvl2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2pPr>
            <ns1:lvl3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3pPr>
            <ns1:lvl4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4pPr>
            <ns1:lvl5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5pPr>
            <ns1:lvl6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6pPr>
            <ns1:lvl7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7pPr>
            <ns1:lvl8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8pPr>
            <ns1:lvl9pPr algn="l"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pPr>
            <ns1:r>
              <ns1:rPr sz="1425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rPr>
              <ns1:t>Sigmoid mask</ns1:t>
            </ns1:r>
          </ns1:p>
        </ns0:txBody>
      </ns0:sp>
      <ns0:sp>
        <ns0:nvSpPr>
          <ns0:cNvPr id="23" name="Skip connections preserve speech details while the decoder predicts a ">
            <ns1:extLst>
              <ns1:ext uri="{FF2B5EF4-FFF2-40B4-BE49-F238E27FC236}">
                <ns2:creationId id="{BB9B8F98-2E34-4B49-9266-A5977083E11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324475"/>
            <ns1:ext cx="1085850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650" b="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defPPr>
            <ns1:lvl1pPr algn="l">
              <ns1:defRPr sz="1650" b="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1pPr>
            <ns1:lvl2pPr algn="l">
              <ns1:defRPr sz="1650" b="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2pPr>
            <ns1:lvl3pPr algn="l">
              <ns1:defRPr sz="1650" b="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3pPr>
            <ns1:lvl4pPr algn="l">
              <ns1:defRPr sz="1650" b="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4pPr>
            <ns1:lvl5pPr algn="l">
              <ns1:defRPr sz="1650" b="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5pPr>
            <ns1:lvl6pPr algn="l">
              <ns1:defRPr sz="1650" b="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6pPr>
            <ns1:lvl7pPr algn="l">
              <ns1:defRPr sz="1650" b="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7pPr>
            <ns1:lvl8pPr algn="l">
              <ns1:defRPr sz="1650" b="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8pPr>
            <ns1:lvl9pPr algn="l">
              <ns1:defRPr sz="1650" b="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650" b="0">
                <ns1:solidFill>
                  <ns1:srgbClr val="EBECEF"/>
                </ns1:solidFill>
                <ns1:latin typeface="Epilogue"/>
                <ns1:ea typeface="Epilogue"/>
                <ns1:cs typeface="Epilogue"/>
              </ns1:defRPr>
            </ns1:pPr>
            <ns1:r>
              <ns1:rPr sz="1650" b="0">
                <ns1:solidFill>
                  <ns1:srgbClr val="EBECEF"/>
                </ns1:solidFill>
                <ns1:latin typeface="Epilogue"/>
                <ns1:ea typeface="Epilogue"/>
                <ns1:cs typeface="Epilogue"/>
              </ns1:rPr>
              <ns1:t>Skip connections preserve speech details while the decoder predicts a mask from 0 to 1.</ns1:t>
            </ns1:r>
          </ns1:p>
        </ns0:txBody>
      </ns0:sp>
      <ns0:sp>
        <ns0:nvSpPr>
          <ns0:cNvPr id="24" name="We trained 482,449 parameters for 20 epochs using AdamW, a learning ra">
            <ns1:extLst>
              <ns1:ext uri="{FF2B5EF4-FFF2-40B4-BE49-F238E27FC236}">
                <ns2:creationId id="{D18B92B3-2195-446A-B599-F156E2F6570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819775"/>
            <ns1:ext cx="1085850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75" b="0">
                <ns1:solidFill>
                  <ns1:srgbClr val="55D8C1"/>
                </ns1:solidFill>
                <ns1:latin typeface="Epilogue"/>
                <ns1:ea typeface="Epilogue"/>
                <ns1:cs typeface="Epilogue"/>
              </ns1:defRPr>
            </ns1:defPPr>
            <ns1:lvl1pPr algn="l">
              <ns1:defRPr sz="1575" b="0">
                <ns1:solidFill>
                  <ns1:srgbClr val="55D8C1"/>
                </ns1:solidFill>
                <ns1:latin typeface="Epilogue"/>
                <ns1:ea typeface="Epilogue"/>
                <ns1:cs typeface="Epilogue"/>
              </ns1:defRPr>
            </ns1:lvl1pPr>
            <ns1:lvl2pPr algn="l">
              <ns1:defRPr sz="1575" b="0">
                <ns1:solidFill>
                  <ns1:srgbClr val="55D8C1"/>
                </ns1:solidFill>
                <ns1:latin typeface="Epilogue"/>
                <ns1:ea typeface="Epilogue"/>
                <ns1:cs typeface="Epilogue"/>
              </ns1:defRPr>
            </ns1:lvl2pPr>
            <ns1:lvl3pPr algn="l">
              <ns1:defRPr sz="1575" b="0">
                <ns1:solidFill>
                  <ns1:srgbClr val="55D8C1"/>
                </ns1:solidFill>
                <ns1:latin typeface="Epilogue"/>
                <ns1:ea typeface="Epilogue"/>
                <ns1:cs typeface="Epilogue"/>
              </ns1:defRPr>
            </ns1:lvl3pPr>
            <ns1:lvl4pPr algn="l">
              <ns1:defRPr sz="1575" b="0">
                <ns1:solidFill>
                  <ns1:srgbClr val="55D8C1"/>
                </ns1:solidFill>
                <ns1:latin typeface="Epilogue"/>
                <ns1:ea typeface="Epilogue"/>
                <ns1:cs typeface="Epilogue"/>
              </ns1:defRPr>
            </ns1:lvl4pPr>
            <ns1:lvl5pPr algn="l">
              <ns1:defRPr sz="1575" b="0">
                <ns1:solidFill>
                  <ns1:srgbClr val="55D8C1"/>
                </ns1:solidFill>
                <ns1:latin typeface="Epilogue"/>
                <ns1:ea typeface="Epilogue"/>
                <ns1:cs typeface="Epilogue"/>
              </ns1:defRPr>
            </ns1:lvl5pPr>
            <ns1:lvl6pPr algn="l">
              <ns1:defRPr sz="1575" b="0">
                <ns1:solidFill>
                  <ns1:srgbClr val="55D8C1"/>
                </ns1:solidFill>
                <ns1:latin typeface="Epilogue"/>
                <ns1:ea typeface="Epilogue"/>
                <ns1:cs typeface="Epilogue"/>
              </ns1:defRPr>
            </ns1:lvl6pPr>
            <ns1:lvl7pPr algn="l">
              <ns1:defRPr sz="1575" b="0">
                <ns1:solidFill>
                  <ns1:srgbClr val="55D8C1"/>
                </ns1:solidFill>
                <ns1:latin typeface="Epilogue"/>
                <ns1:ea typeface="Epilogue"/>
                <ns1:cs typeface="Epilogue"/>
              </ns1:defRPr>
            </ns1:lvl7pPr>
            <ns1:lvl8pPr algn="l">
              <ns1:defRPr sz="1575" b="0">
                <ns1:solidFill>
                  <ns1:srgbClr val="55D8C1"/>
                </ns1:solidFill>
                <ns1:latin typeface="Epilogue"/>
                <ns1:ea typeface="Epilogue"/>
                <ns1:cs typeface="Epilogue"/>
              </ns1:defRPr>
            </ns1:lvl8pPr>
            <ns1:lvl9pPr algn="l">
              <ns1:defRPr sz="1575" b="0">
                <ns1:solidFill>
                  <ns1:srgbClr val="55D8C1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575" b="0">
                <ns1:solidFill>
                  <ns1:srgbClr val="55D8C1"/>
                </ns1:solidFill>
                <ns1:latin typeface="Epilogue"/>
                <ns1:ea typeface="Epilogue"/>
                <ns1:cs typeface="Epilogue"/>
              </ns1:defRPr>
            </ns1:pPr>
            <ns1:r>
              <ns1:rPr sz="1575" b="0">
                <ns1:solidFill>
                  <ns1:srgbClr val="55D8C1"/>
                </ns1:solidFill>
                <ns1:latin typeface="Epilogue"/>
                <ns1:ea typeface="Epilogue"/>
                <ns1:cs typeface="Epilogue"/>
              </ns1:rPr>
              <ns1:t>We trained 482,449 parameters for 20 epochs using AdamW, a learning rate of 0.001 and batches of 16.</ns1:t>
            </ns1:r>
          </ns1:p>
        </ns0:txBody>
      </ns0:sp>
      <ns0:sp>
        <ns0:nvSpPr>
          <ns0:cNvPr id="25" name="L1 loss compares enhanced and clean magnitudes. The best checkpoint co">
            <ns1:extLst>
              <ns1:ext uri="{FF2B5EF4-FFF2-40B4-BE49-F238E27FC236}">
                <ns2:creationId id="{6A1FE8CE-6F32-46B6-95D7-9B27448DD2D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343650"/>
            <ns1:ext cx="10858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500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defPPr>
            <ns1:lvl1pPr algn="l">
              <ns1:defRPr sz="1500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1pPr>
            <ns1:lvl2pPr algn="l">
              <ns1:defRPr sz="1500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2pPr>
            <ns1:lvl3pPr algn="l">
              <ns1:defRPr sz="1500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3pPr>
            <ns1:lvl4pPr algn="l">
              <ns1:defRPr sz="1500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4pPr>
            <ns1:lvl5pPr algn="l">
              <ns1:defRPr sz="1500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5pPr>
            <ns1:lvl6pPr algn="l">
              <ns1:defRPr sz="1500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6pPr>
            <ns1:lvl7pPr algn="l">
              <ns1:defRPr sz="1500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7pPr>
            <ns1:lvl8pPr algn="l">
              <ns1:defRPr sz="1500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8pPr>
            <ns1:lvl9pPr algn="l">
              <ns1:defRPr sz="1500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1500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defRPr>
            </ns1:pPr>
            <ns1:r>
              <ns1:rPr sz="1500" b="0">
                <ns1:solidFill>
                  <ns1:srgbClr val="AAB6DB"/>
                </ns1:solidFill>
                <ns1:latin typeface="Epilogue"/>
                <ns1:ea typeface="Epilogue"/>
                <ns1:cs typeface="Epilogue"/>
              </ns1:rPr>
              <ns1:t>L1 loss compares enhanced and clean magnitudes. The best checkpoint comes from epoch 19.</ns1:t>
            </ns1:r>
          </ns1:p>
        </ns0:txBody>
      </ns0:sp>
      <ns0:cxnSp>
        <ns0:nvCxnSpPr>
          <ns0:cNvPr id="26" name="Connector: Elbow 17">
            <ns1:extLst>
              <ns1:ext uri="{FF2B5EF4-FFF2-40B4-BE49-F238E27FC236}">
                <ns2:creationId id="{1F2F5A7C-AAF6-44FB-A774-8EC62E0443CE}"/>
              </ns1:ext>
            </ns1:extLst>
          </ns0:cNvPr>
          <ns0:cNvCxnSpPr/>
          <ns0:nvPr/>
        </ns0:nvCxnSpPr>
        <ns0:spPr>
          <ns1:xfrm>
            <ns1:off x="4524375" y="3390900"/>
            <ns1:ext cx="3105150" cy="228600"/>
          </ns1:xfrm>
          <ns1:prstGeom prst="bentConnector4">
            <ns1:avLst/>
          </ns1:prstGeom>
          <ns1:ln w="19050">
            <ns1:solidFill>
              <ns1:srgbClr val="B6A9EE"/>
            </ns1:solidFill>
            <ns1:prstDash val="dash"/>
            <ns1:tailEnd type="triangle" w="sm" len="sm"/>
          </ns1:ln>
        </ns0:spPr>
      </ns0:cxnSp>
      <ns0:cxnSp>
        <ns0:nvCxnSpPr>
          <ns0:cNvPr id="27" name="Connector: Elbow 16">
            <ns1:extLst>
              <ns1:ext uri="{FF2B5EF4-FFF2-40B4-BE49-F238E27FC236}">
                <ns2:creationId id="{BC6FD5B3-0576-4E00-A0F9-02444D2092CA}"/>
              </ns1:ext>
            </ns1:extLst>
          </ns0:cNvPr>
          <ns0:cNvCxnSpPr/>
          <ns0:nvPr/>
        </ns0:nvCxnSpPr>
        <ns0:spPr>
          <ns1:xfrm>
            <ns1:off x="2971800" y="2609850"/>
            <ns1:ext cx="6210300" cy="228600"/>
          </ns1:xfrm>
          <ns1:prstGeom prst="bentConnector4">
            <ns1:avLst/>
          </ns1:prstGeom>
          <ns1:ln w="19050">
            <ns1:solidFill>
              <ns1:srgbClr val="B6A9EE"/>
            </ns1:solidFill>
            <ns1:prstDash val="dash"/>
            <ns1:tailEnd type="triangle" w="sm" len="sm"/>
          </ns1:ln>
        </ns0:spPr>
      </ns0:cxnSp>
      <ns0:cxnSp>
        <ns0:nvCxnSpPr>
          <ns0:cNvPr id="28" name="Straight Arrow Connector 15">
            <ns1:extLst>
              <ns1:ext uri="{FF2B5EF4-FFF2-40B4-BE49-F238E27FC236}">
                <ns2:creationId id="{57726F2F-8B40-43E8-B85E-735E5E050E89}"/>
              </ns1:ext>
            </ns1:extLst>
          </ns0:cNvPr>
          <ns0:cNvCxnSpPr/>
          <ns0:nvPr/>
        </ns0:nvCxnSpPr>
        <ns0:spPr>
          <ns1:xfrm>
            <ns1:off x="1419225" y="2057400"/>
            <ns1:ext cx="9315450" cy="0"/>
          </ns1:xfrm>
          <ns1:prstGeom prst="straightConnector1">
            <ns1:avLst/>
          </ns1:prstGeom>
          <ns1:ln w="19050">
            <ns1:solidFill>
              <ns1:srgbClr val="B6A9EE"/>
            </ns1:solidFill>
            <ns1:prstDash val="dash"/>
            <ns1:tailEnd type="triangle" w="sm" len="sm"/>
          </ns1:ln>
        </ns0:spPr>
      </ns0:cxnSp>
      <ns0:cxnSp>
        <ns0:nvCxnSpPr>
          <ns0:cNvPr id="29" name="Connector: Elbow 14">
            <ns1:extLst>
              <ns1:ext uri="{FF2B5EF4-FFF2-40B4-BE49-F238E27FC236}">
                <ns2:creationId id="{9BBD93D5-C832-47A6-9687-11F9D7F8113B}"/>
              </ns1:ext>
            </ns1:extLst>
          </ns0:cNvPr>
          <ns0:cNvCxnSpPr/>
          <ns0:nvPr/>
        </ns0:nvCxnSpPr>
        <ns0:spPr>
          <ns1:xfrm flipV="1">
            <ns1:off x="9886950" y="2428875"/>
            <ns1:ext cx="142875" cy="781050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55D8C1"/>
            </ns1:solidFill>
            <ns1:prstDash val="solid"/>
            <ns1:tailEnd type="triangle" w="sm" len="sm"/>
          </ns1:ln>
        </ns0:spPr>
      </ns0:cxnSp>
      <ns0:cxnSp>
        <ns0:nvCxnSpPr>
          <ns0:cNvPr id="30" name="Connector: Elbow 13">
            <ns1:extLst>
              <ns1:ext uri="{FF2B5EF4-FFF2-40B4-BE49-F238E27FC236}">
                <ns2:creationId id="{BC24BE13-8DCD-4BE2-825E-0B4AAB8E5412}"/>
              </ns1:ext>
            </ns1:extLst>
          </ns0:cNvPr>
          <ns0:cNvCxnSpPr/>
          <ns0:nvPr/>
        </ns0:nvCxnSpPr>
        <ns0:spPr>
          <ns1:xfrm flipV="1">
            <ns1:off x="8334375" y="3209925"/>
            <ns1:ext cx="142875" cy="781050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55D8C1"/>
            </ns1:solidFill>
            <ns1:prstDash val="solid"/>
            <ns1:tailEnd type="triangle" w="sm" len="sm"/>
          </ns1:ln>
        </ns0:spPr>
      </ns0:cxnSp>
      <ns0:cxnSp>
        <ns0:nvCxnSpPr>
          <ns0:cNvPr id="31" name="Connector: Elbow 12">
            <ns1:extLst>
              <ns1:ext uri="{FF2B5EF4-FFF2-40B4-BE49-F238E27FC236}">
                <ns2:creationId id="{BD86D226-1667-4AA9-9D8F-42267BEA2C0F}"/>
              </ns1:ext>
            </ns1:extLst>
          </ns0:cNvPr>
          <ns0:cNvCxnSpPr/>
          <ns0:nvPr/>
        </ns0:nvCxnSpPr>
        <ns0:spPr>
          <ns1:xfrm flipV="1">
            <ns1:off x="6781800" y="3990975"/>
            <ns1:ext cx="142875" cy="781050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55D8C1"/>
            </ns1:solidFill>
            <ns1:prstDash val="solid"/>
            <ns1:tailEnd type="triangle" w="sm" len="sm"/>
          </ns1:ln>
        </ns0:spPr>
      </ns0:cxnSp>
      <ns0:cxnSp>
        <ns0:nvCxnSpPr>
          <ns0:cNvPr id="32" name="Connector: Elbow 11">
            <ns1:extLst>
              <ns1:ext uri="{FF2B5EF4-FFF2-40B4-BE49-F238E27FC236}">
                <ns2:creationId id="{05684E50-9DB3-42CF-89ED-47EE2988DB62}"/>
              </ns1:ext>
            </ns1:extLst>
          </ns0:cNvPr>
          <ns0:cNvCxnSpPr/>
          <ns0:nvPr/>
        </ns0:nvCxnSpPr>
        <ns0:spPr>
          <ns1:xfrm>
            <ns1:off x="5229225" y="3990975"/>
            <ns1:ext cx="142875" cy="781050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67BEFF"/>
            </ns1:solidFill>
            <ns1:prstDash val="solid"/>
            <ns1:tailEnd type="triangle" w="sm" len="sm"/>
          </ns1:ln>
        </ns0:spPr>
      </ns0:cxnSp>
      <ns0:cxnSp>
        <ns0:nvCxnSpPr>
          <ns0:cNvPr id="33" name="Connector: Elbow 10">
            <ns1:extLst>
              <ns1:ext uri="{FF2B5EF4-FFF2-40B4-BE49-F238E27FC236}">
                <ns2:creationId id="{E8CAF7ED-6CB1-4207-950C-C4ACE2ECED6F}"/>
              </ns1:ext>
            </ns1:extLst>
          </ns0:cNvPr>
          <ns0:cNvCxnSpPr/>
          <ns0:nvPr/>
        </ns0:nvCxnSpPr>
        <ns0:spPr>
          <ns1:xfrm>
            <ns1:off x="3676650" y="3209925"/>
            <ns1:ext cx="142875" cy="781050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67BEFF"/>
            </ns1:solidFill>
            <ns1:prstDash val="solid"/>
            <ns1:tailEnd type="triangle" w="sm" len="sm"/>
          </ns1:ln>
        </ns0:spPr>
      </ns0:cxnSp>
      <ns0:cxnSp>
        <ns0:nvCxnSpPr>
          <ns0:cNvPr id="34" name="Connector: Elbow 9">
            <ns1:extLst>
              <ns1:ext uri="{FF2B5EF4-FFF2-40B4-BE49-F238E27FC236}">
                <ns2:creationId id="{98AA750B-AE43-42A4-AD16-46F81ED6039B}"/>
              </ns1:ext>
            </ns1:extLst>
          </ns0:cNvPr>
          <ns0:cNvCxnSpPr/>
          <ns0:nvPr/>
        </ns0:nvCxnSpPr>
        <ns0:spPr>
          <ns1:xfrm>
            <ns1:off x="2124075" y="2428875"/>
            <ns1:ext cx="142875" cy="781050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67BEFF"/>
            </ns1:solidFill>
            <ns1:prstDash val="solid"/>
            <ns1:tailEnd type="triangle" w="sm" len="sm"/>
          </ns1:ln>
        </ns0:spPr>
      </ns0:cxnSp>
    </ns0:spTree>
    <ns0:extLst>
      <ns0:ext uri="{BB962C8B-B14F-4D97-AF65-F5344CB8AC3E}">
        <ns3:creationId val="518514923"/>
      </ns0:ext>
    </ns0:extLst>
  </ns0:cSld>
</ns0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peech Recognition &amp; Word Correction">
            <a:extLst xmlns:a="http://schemas.openxmlformats.org/drawingml/2006/main">
              <a:ext uri="{FF2B5EF4-FFF2-40B4-BE49-F238E27FC236}">
                <a16:creationId xmlns:a16="http://schemas.microsoft.com/office/drawing/2014/main" id="{9F294E50-AB41-4E23-9000-47510B09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Speech Recognition &amp; Word Correction</a:t>
            </a:r>
          </a:p>
        </p:txBody>
      </p:sp>
      <p:sp>
        <p:nvSpPr>
          <p:cNvPr id="3" name="Whisper produces the transcript. Pronunciation and sentence context gu">
            <a:extLst xmlns:a="http://schemas.openxmlformats.org/drawingml/2006/main">
              <a:ext uri="{FF2B5EF4-FFF2-40B4-BE49-F238E27FC236}">
                <a16:creationId xmlns:a16="http://schemas.microsoft.com/office/drawing/2014/main" id="{17A010DA-3AF3-405E-9CF7-F899BF52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  <a:r>
              <a:rPr sz="1425" b="0">
                <a:solidFill>
                  <a:srgbClr val="AAB6DB"/>
                </a:solidFill>
                <a:latin typeface="Epilogue"/>
                <a:ea typeface="Epilogue"/>
                <a:cs typeface="Epilogue"/>
              </a:rPr>
              <a:t>Whisper produces the transcript. Pronunciation and sentence context guide possible corrections.</a:t>
            </a:r>
          </a:p>
        </p:txBody>
      </p:sp>
      <p:sp>
        <p:nvSpPr>
          <p:cNvPr id="4" name="How correction works">
            <a:extLst xmlns:a="http://schemas.openxmlformats.org/drawingml/2006/main">
              <a:ext uri="{FF2B5EF4-FFF2-40B4-BE49-F238E27FC236}">
                <a16:creationId xmlns:a16="http://schemas.microsoft.com/office/drawing/2014/main" id="{25974188-0C8B-4279-AE49-F4839692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How correction works</a:t>
            </a:r>
          </a:p>
        </p:txBody>
      </p:sp>
      <p:sp>
        <p:nvSpPr>
          <p:cNvPr id="5" name="Whisper base.en converts audio into text. CMUdict finds words with sim">
            <a:extLst xmlns:a="http://schemas.openxmlformats.org/drawingml/2006/main">
              <a:ext uri="{FF2B5EF4-FFF2-40B4-BE49-F238E27FC236}">
                <a16:creationId xmlns:a16="http://schemas.microsoft.com/office/drawing/2014/main" id="{3DE3F8D4-DC2C-44DE-8DF5-E5470C3C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5095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87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Whisper base.en converts audio into text. CMUdict finds words with similar pronunciations, and GPT-2 scores how well each word fits the sentence.</a:t>
            </a:r>
          </a:p>
        </p:txBody>
      </p:sp>
      <p:sp>
        <p:nvSpPr>
          <p:cNvPr id="6" name="When a word can change">
            <a:extLst xmlns:a="http://schemas.openxmlformats.org/drawingml/2006/main">
              <a:ext uri="{FF2B5EF4-FFF2-40B4-BE49-F238E27FC236}">
                <a16:creationId xmlns:a16="http://schemas.microsoft.com/office/drawing/2014/main" id="{F1F9F28F-8D86-4E8B-B0A2-75BE8EB6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When a word can change</a:t>
            </a:r>
          </a:p>
        </p:txBody>
      </p:sp>
      <p:sp>
        <p:nvSpPr>
          <p:cNvPr id="7" name="A replacement must sound similar and score clearly better than the ori">
            <a:extLst xmlns:a="http://schemas.openxmlformats.org/drawingml/2006/main">
              <a:ext uri="{FF2B5EF4-FFF2-40B4-BE49-F238E27FC236}">
                <a16:creationId xmlns:a16="http://schemas.microsoft.com/office/drawing/2014/main" id="{1FE9DC6C-BB49-40D7-AF88-6C6C1B59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9825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87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A replacement must sound similar and score clearly better than the original. Extra safeguards discourage unnecessary changes.</a:t>
            </a:r>
          </a:p>
        </p:txBody>
      </p:sp>
      <p:sp>
        <p:nvSpPr>
          <p:cNvPr id="8" name="An example from our test set">
            <a:extLst xmlns:a="http://schemas.openxmlformats.org/drawingml/2006/main">
              <a:ext uri="{FF2B5EF4-FFF2-40B4-BE49-F238E27FC236}">
                <a16:creationId xmlns:a16="http://schemas.microsoft.com/office/drawing/2014/main" id="{C9194511-D60B-4377-B954-4A9F1D93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21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21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21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21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21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21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21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21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21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21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An example from our test set</a:t>
            </a:r>
          </a:p>
        </p:txBody>
      </p:sp>
      <p:sp>
        <p:nvSpPr>
          <p:cNvPr id="9" name="Whisper: “The piece process will be buried.”">
            <a:extLst xmlns:a="http://schemas.openxmlformats.org/drawingml/2006/main">
              <a:ext uri="{FF2B5EF4-FFF2-40B4-BE49-F238E27FC236}">
                <a16:creationId xmlns:a16="http://schemas.microsoft.com/office/drawing/2014/main" id="{9685E1CD-F786-4FE8-9953-CBA0F7BF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21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21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21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21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21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21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21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21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21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pPr>
            <a:r>
              <a:rPr sz="2175" b="0">
                <a:solidFill>
                  <a:srgbClr val="67BEFF"/>
                </a:solidFill>
                <a:latin typeface="Epilogue"/>
                <a:ea typeface="Epilogue"/>
                <a:cs typeface="Epilogue"/>
              </a:rPr>
              <a:t>Whisper: “The piece process will be buried.”</a:t>
            </a:r>
          </a:p>
        </p:txBody>
      </p:sp>
      <p:sp>
        <p:nvSpPr>
          <p:cNvPr id="10" name="Corrected: “The peace process will be buried.”">
            <a:extLst xmlns:a="http://schemas.openxmlformats.org/drawingml/2006/main">
              <a:ext uri="{FF2B5EF4-FFF2-40B4-BE49-F238E27FC236}">
                <a16:creationId xmlns:a16="http://schemas.microsoft.com/office/drawing/2014/main" id="{84C6EB28-1A49-4AC0-B9E8-CF940D82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217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217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217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217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217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217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217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217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217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pPr>
            <a:r>
              <a:rPr sz="2175" b="0">
                <a:solidFill>
                  <a:srgbClr val="55D8C1"/>
                </a:solidFill>
                <a:latin typeface="Epilogue"/>
                <a:ea typeface="Epilogue"/>
                <a:cs typeface="Epilogue"/>
              </a:rPr>
              <a:t>Corrected: “The peace process will be buried.”</a:t>
            </a:r>
          </a:p>
        </p:txBody>
      </p:sp>
      <p:sp>
        <p:nvSpPr>
          <p:cNvPr id="11" name="“Piece” and “peace” sound the same. The sentence context favors “peace">
            <a:extLst xmlns:a="http://schemas.openxmlformats.org/drawingml/2006/main">
              <a:ext uri="{FF2B5EF4-FFF2-40B4-BE49-F238E27FC236}">
                <a16:creationId xmlns:a16="http://schemas.microsoft.com/office/drawing/2014/main" id="{C24F8550-E441-49E0-AB22-6A21EC81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65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65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65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65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65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65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65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65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65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650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“Piece” and “peace” sound the same. The sentence context favors “peace”.</a:t>
            </a:r>
          </a:p>
        </p:txBody>
      </p:sp>
    </p:spTree>
    <p:extLst>
      <p:ext uri="{BB962C8B-B14F-4D97-AF65-F5344CB8AC3E}">
        <p14:creationId xmlns:p14="http://schemas.microsoft.com/office/powerpoint/2010/main" val="1102485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sults: Audio Quality">
            <a:extLst xmlns:a="http://schemas.openxmlformats.org/drawingml/2006/main">
              <a:ext uri="{FF2B5EF4-FFF2-40B4-BE49-F238E27FC236}">
                <a16:creationId xmlns:a16="http://schemas.microsoft.com/office/drawing/2014/main" id="{A8641EA0-9549-4E82-A6A7-0FAC6765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Results: Audio Quality</a:t>
            </a:r>
          </a:p>
        </p:txBody>
      </p:sp>
      <p:sp>
        <p:nvSpPr>
          <p:cNvPr id="3" name="We compare noisy and enhanced audio against the matching clean recordi">
            <a:extLst xmlns:a="http://schemas.openxmlformats.org/drawingml/2006/main">
              <a:ext uri="{FF2B5EF4-FFF2-40B4-BE49-F238E27FC236}">
                <a16:creationId xmlns:a16="http://schemas.microsoft.com/office/drawing/2014/main" id="{4E60CD2C-4205-415B-91B0-7A2DF25A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  <a:r>
              <a:rPr sz="1425" b="0">
                <a:solidFill>
                  <a:srgbClr val="AAB6DB"/>
                </a:solidFill>
                <a:latin typeface="Epilogue"/>
                <a:ea typeface="Epilogue"/>
                <a:cs typeface="Epilogue"/>
              </a:rPr>
              <a:t>We compare noisy and enhanced audio against the matching clean recordings.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DAFAF-9403-4493-A214-F2D1F8F95771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476500"/>
                <a:gridCol w="2667000"/>
                <a:gridCol w="2286000"/>
              </a:tblGrid>
              <a:tr h="6072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Epilogue"/>
                          <a:ea typeface="Epilogue"/>
                          <a:cs typeface="Epilogue"/>
                        </a:rPr>
                        <a:t>Metric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T w="9525">
                      <a:solidFill>
                        <a:srgbClr val="414A70"/>
                      </a:solidFill>
                      <a:prstDash val="solid"/>
                    </a:lnT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2831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Epilogue"/>
                          <a:ea typeface="Epilogue"/>
                          <a:cs typeface="Epilogue"/>
                        </a:rPr>
                        <a:t>Noisy input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T w="9525">
                      <a:solidFill>
                        <a:srgbClr val="414A70"/>
                      </a:solidFill>
                      <a:prstDash val="solid"/>
                    </a:lnT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2831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Epilogue"/>
                          <a:ea typeface="Epilogue"/>
                          <a:cs typeface="Epilogue"/>
                        </a:rPr>
                        <a:t>Enhanced audio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T w="9525">
                      <a:solidFill>
                        <a:srgbClr val="414A70"/>
                      </a:solidFill>
                      <a:prstDash val="solid"/>
                    </a:lnT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2831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Epilogue"/>
                          <a:ea typeface="Epilogue"/>
                          <a:cs typeface="Epilogue"/>
                        </a:rPr>
                        <a:t>Mean gain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T w="9525">
                      <a:solidFill>
                        <a:srgbClr val="414A70"/>
                      </a:solidFill>
                      <a:prstDash val="solid"/>
                    </a:lnT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283157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STOI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0.9211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0.9338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+0.0127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SI-SDR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8.45 dB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17.96 dB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+9.51 dB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SNR</a:t>
                      </a:r>
                    </a:p>
                  </a:txBody>
                  <a:tcPr marL="133350" marR="114300" marT="114300" marB="95250" anchor="ctr">
                    <a:lnL w="9525">
                      <a:solidFill>
                        <a:srgbClr val="414A70"/>
                      </a:solidFill>
                      <a:prstDash val="solid"/>
                    </a:lnL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8.45 dB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18.05 dB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</a:rPr>
                        <a:t>+9.60 dB</a:t>
                      </a:r>
                    </a:p>
                  </a:txBody>
                  <a:tcPr marL="133350" marR="114300" marT="114300" marB="95250" anchor="ctr">
                    <a:lnR w="9525">
                      <a:solidFill>
                        <a:srgbClr val="414A70"/>
                      </a:solidFill>
                      <a:prstDash val="solid"/>
                    </a:lnR>
                    <a:lnB w="9525">
                      <a:solidFill>
                        <a:srgbClr val="414A70"/>
                      </a:solidFill>
                      <a:prstDash val="solid"/>
                    </a:lnB>
                    <a:solidFill>
                      <a:srgbClr val="080E26"/>
                    </a:solidFill>
                  </a:tcPr>
                </a:tc>
              </a:tr>
            </a:tbl>
          </a:graphicData>
        </a:graphic>
      </p:graphicFrame>
      <p:sp>
        <p:nvSpPr>
          <p:cNvPr id="5" name="What the scores mean">
            <a:extLst xmlns:a="http://schemas.openxmlformats.org/drawingml/2006/main">
              <a:ext uri="{FF2B5EF4-FFF2-40B4-BE49-F238E27FC236}">
                <a16:creationId xmlns:a16="http://schemas.microsoft.com/office/drawing/2014/main" id="{D469B0B8-615C-4E57-B69D-F6283972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What the scores mean</a:t>
            </a:r>
          </a:p>
        </p:txBody>
      </p:sp>
      <p:sp>
        <p:nvSpPr>
          <p:cNvPr id="6" name="Higher SNR and SI-SDR indicate better signal quality. Higher STOI sugg">
            <a:extLst xmlns:a="http://schemas.openxmlformats.org/drawingml/2006/main">
              <a:ext uri="{FF2B5EF4-FFF2-40B4-BE49-F238E27FC236}">
                <a16:creationId xmlns:a16="http://schemas.microsoft.com/office/drawing/2014/main" id="{AF4D9D6B-366F-48A3-98C2-BA36E005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5095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72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Higher SNR and SI-SDR indicate better signal quality. Higher STOI suggests better speech intelligibility according to this objective measure.</a:t>
            </a:r>
          </a:p>
        </p:txBody>
      </p:sp>
      <p:sp>
        <p:nvSpPr>
          <p:cNvPr id="7" name="Main observation">
            <a:extLst xmlns:a="http://schemas.openxmlformats.org/drawingml/2006/main">
              <a:ext uri="{FF2B5EF4-FFF2-40B4-BE49-F238E27FC236}">
                <a16:creationId xmlns:a16="http://schemas.microsoft.com/office/drawing/2014/main" id="{0A66EAE4-9E91-4ECD-BB28-B1AA3AB0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Main observation</a:t>
            </a:r>
          </a:p>
        </p:txBody>
      </p:sp>
      <p:sp>
        <p:nvSpPr>
          <p:cNvPr id="8" name="The U-Net reduces noise and improves all three audio metrics. We separ">
            <a:extLst xmlns:a="http://schemas.openxmlformats.org/drawingml/2006/main">
              <a:ext uri="{FF2B5EF4-FFF2-40B4-BE49-F238E27FC236}">
                <a16:creationId xmlns:a16="http://schemas.microsoft.com/office/drawing/2014/main" id="{5A9158A6-5DA2-45C4-91E9-A5B8033D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72075"/>
            <a:ext cx="5143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72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The U-Net reduces noise and improves all three audio metrics. We separately check whether these gains improve the transcript.</a:t>
            </a:r>
          </a:p>
        </p:txBody>
      </p:sp>
    </p:spTree>
    <p:extLst>
      <p:ext uri="{BB962C8B-B14F-4D97-AF65-F5344CB8AC3E}">
        <p14:creationId xmlns:p14="http://schemas.microsoft.com/office/powerpoint/2010/main" val="3995477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sults: Transcription Accuracy">
            <a:extLst xmlns:a="http://schemas.openxmlformats.org/drawingml/2006/main">
              <a:ext uri="{FF2B5EF4-FFF2-40B4-BE49-F238E27FC236}">
                <a16:creationId xmlns:a16="http://schemas.microsoft.com/office/drawing/2014/main" id="{B465D110-D555-4038-BCD9-930AE08E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Results: Transcription Accuracy</a:t>
            </a:r>
          </a:p>
        </p:txBody>
      </p:sp>
      <p:sp>
        <p:nvSpPr>
          <p:cNvPr id="3" name="Word error rate (WER) measures incorrect, missing and extra words. Low">
            <a:extLst xmlns:a="http://schemas.openxmlformats.org/drawingml/2006/main">
              <a:ext uri="{FF2B5EF4-FFF2-40B4-BE49-F238E27FC236}">
                <a16:creationId xmlns:a16="http://schemas.microsoft.com/office/drawing/2014/main" id="{67AB8635-8D14-41B9-AF9F-E4B69A97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  <a:r>
              <a:rPr sz="1425" b="0">
                <a:solidFill>
                  <a:srgbClr val="AAB6DB"/>
                </a:solidFill>
                <a:latin typeface="Epilogue"/>
                <a:ea typeface="Epilogue"/>
                <a:cs typeface="Epilogue"/>
              </a:rPr>
              <a:t>Word error rate (WER) measures incorrect, missing and extra words. Lower is better.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CBD4839-5DE7-4419-B392-B79E2539F8ED}"/>
              </a:ext>
            </a:extLst>
          </p:cNvPr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10858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6286f460934f90"/>
          </a:graphicData>
        </a:graphic>
      </p:graphicFrame>
      <p:sp>
        <p:nvSpPr>
          <p:cNvPr id="5" name="Enhancement trade-off">
            <a:extLst xmlns:a="http://schemas.openxmlformats.org/drawingml/2006/main">
              <a:ext uri="{FF2B5EF4-FFF2-40B4-BE49-F238E27FC236}">
                <a16:creationId xmlns:a16="http://schemas.microsoft.com/office/drawing/2014/main" id="{126DE8E7-B0CF-4AB4-AEAB-FB336549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Enhancement trade-off</a:t>
            </a:r>
          </a:p>
        </p:txBody>
      </p:sp>
      <p:sp>
        <p:nvSpPr>
          <p:cNvPr id="6" name="Whisper makes more word errors after enhancement. Our model learns to ">
            <a:extLst xmlns:a="http://schemas.openxmlformats.org/drawingml/2006/main">
              <a:ext uri="{FF2B5EF4-FFF2-40B4-BE49-F238E27FC236}">
                <a16:creationId xmlns:a16="http://schemas.microsoft.com/office/drawing/2014/main" id="{32067F14-EF5C-4B3D-82FE-A6195DCC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5095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72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Whisper makes more word errors after enhancement. Our model learns to reconstruct audio, so better signal scores do not guarantee better recognition.</a:t>
            </a:r>
          </a:p>
        </p:txBody>
      </p:sp>
      <p:sp>
        <p:nvSpPr>
          <p:cNvPr id="7" name="Small correction gain">
            <a:extLst xmlns:a="http://schemas.openxmlformats.org/drawingml/2006/main">
              <a:ext uri="{FF2B5EF4-FFF2-40B4-BE49-F238E27FC236}">
                <a16:creationId xmlns:a16="http://schemas.microsoft.com/office/drawing/2014/main" id="{A6363B72-6A95-4627-B70F-839872FB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01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Small correction gain</a:t>
            </a:r>
          </a:p>
        </p:txBody>
      </p:sp>
      <p:sp>
        <p:nvSpPr>
          <p:cNvPr id="8" name="Correction removes seven net word errors in each audio path. It can st">
            <a:extLst xmlns:a="http://schemas.openxmlformats.org/drawingml/2006/main">
              <a:ext uri="{FF2B5EF4-FFF2-40B4-BE49-F238E27FC236}">
                <a16:creationId xmlns:a16="http://schemas.microsoft.com/office/drawing/2014/main" id="{4CA8B27D-8DE2-4B44-94B0-C2D12CBB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67325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72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Correction removes seven net word errors in each audio path. It can still introduce errors, such as changing the correct word “bottle” to “battle”.</a:t>
            </a:r>
          </a:p>
        </p:txBody>
      </p:sp>
    </p:spTree>
    <p:extLst>
      <p:ext uri="{BB962C8B-B14F-4D97-AF65-F5344CB8AC3E}">
        <p14:creationId xmlns:p14="http://schemas.microsoft.com/office/powerpoint/2010/main" val="8239111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Implementation &amp; Demonstration">
            <a:extLst xmlns:a="http://schemas.openxmlformats.org/drawingml/2006/main">
              <a:ext uri="{FF2B5EF4-FFF2-40B4-BE49-F238E27FC236}">
                <a16:creationId xmlns:a16="http://schemas.microsoft.com/office/drawing/2014/main" id="{E50ECF5B-C970-4447-891D-D3C463F9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Implementation &amp; Demonstration</a:t>
            </a:r>
          </a:p>
        </p:txBody>
      </p:sp>
      <p:sp>
        <p:nvSpPr>
          <p:cNvPr id="3" name="The Streamlit application lets users compare audio and transcripts.">
            <a:extLst xmlns:a="http://schemas.openxmlformats.org/drawingml/2006/main">
              <a:ext uri="{FF2B5EF4-FFF2-40B4-BE49-F238E27FC236}">
                <a16:creationId xmlns:a16="http://schemas.microsoft.com/office/drawing/2014/main" id="{A9D779CD-8608-4C42-AAB5-F89CF783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  <a:r>
              <a:rPr sz="1425" b="0">
                <a:solidFill>
                  <a:srgbClr val="AAB6DB"/>
                </a:solidFill>
                <a:latin typeface="Epilogue"/>
                <a:ea typeface="Epilogue"/>
                <a:cs typeface="Epilogue"/>
              </a:rPr>
              <a:t>The Streamlit application lets users compare audio and transcripts.</a:t>
            </a:r>
          </a:p>
        </p:txBody>
      </p:sp>
      <p:sp>
        <p:nvSpPr>
          <p:cNvPr id="4" name="Implemented in this project">
            <a:extLst xmlns:a="http://schemas.openxmlformats.org/drawingml/2006/main">
              <a:ext uri="{FF2B5EF4-FFF2-40B4-BE49-F238E27FC236}">
                <a16:creationId xmlns:a16="http://schemas.microsoft.com/office/drawing/2014/main" id="{05679285-C910-4F3D-8DC7-180F8E48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Implemented in this project</a:t>
            </a:r>
          </a:p>
        </p:txBody>
      </p:sp>
      <p:sp>
        <p:nvSpPr>
          <p:cNvPr id="5" name="I implemented and trained the U-Net, including audio preprocessing and">
            <a:extLst xmlns:a="http://schemas.openxmlformats.org/drawingml/2006/main">
              <a:ext uri="{FF2B5EF4-FFF2-40B4-BE49-F238E27FC236}">
                <a16:creationId xmlns:a16="http://schemas.microsoft.com/office/drawing/2014/main" id="{6DB545FD-1432-4A08-B900-A0AC2AEE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5048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72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I implemented and trained the U-Net, including audio preprocessing and reconstruction.</a:t>
            </a:r>
          </a:p>
        </p:txBody>
      </p:sp>
      <p:sp>
        <p:nvSpPr>
          <p:cNvPr id="6" name="I built the pronunciation search, correction safeguards and evaluation">
            <a:extLst xmlns:a="http://schemas.openxmlformats.org/drawingml/2006/main">
              <a:ext uri="{FF2B5EF4-FFF2-40B4-BE49-F238E27FC236}">
                <a16:creationId xmlns:a16="http://schemas.microsoft.com/office/drawing/2014/main" id="{A10F578B-5474-4A58-8EFF-FDCF55E3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5048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72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I built the pronunciation search, correction safeguards and evaluation pipeline, then connected them in the interface.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01D9D-4899-4980-A82F-D8D7199CAD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bc96231fd44dc"/>
          <a:stretch xmlns:a="http://schemas.openxmlformats.org/drawingml/2006/main"/>
        </p:blipFill>
        <p:spPr>
          <a:xfrm xmlns:a="http://schemas.openxmlformats.org/drawingml/2006/main">
            <a:off x="6279092" y="1905000"/>
            <a:ext cx="5063067" cy="2847975"/>
          </a:xfrm>
          <a:prstGeom xmlns:a="http://schemas.openxmlformats.org/drawingml/2006/main" prst="rect">
            <a:avLst/>
          </a:prstGeom>
        </p:spPr>
      </p:pic>
      <p:sp>
        <p:nvSpPr>
          <p:cNvPr id="8" name="Pretrained components">
            <a:extLst xmlns:a="http://schemas.openxmlformats.org/drawingml/2006/main">
              <a:ext uri="{FF2B5EF4-FFF2-40B4-BE49-F238E27FC236}">
                <a16:creationId xmlns:a16="http://schemas.microsoft.com/office/drawing/2014/main" id="{1E86065F-EAF3-4198-8819-A138E0D2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Pretrained components</a:t>
            </a:r>
          </a:p>
        </p:txBody>
      </p:sp>
      <p:sp>
        <p:nvSpPr>
          <p:cNvPr id="9" name="Whisper base.en and GPT-2 supply pretrained inference models. The U-Ne">
            <a:extLst xmlns:a="http://schemas.openxmlformats.org/drawingml/2006/main">
              <a:ext uri="{FF2B5EF4-FFF2-40B4-BE49-F238E27FC236}">
                <a16:creationId xmlns:a16="http://schemas.microsoft.com/office/drawing/2014/main" id="{20BD62AC-2A75-42C0-870D-9CB2BF13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578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7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Whisper base.en and GPT-2 use pretrained weights. This project trains the U-Net.</a:t>
            </a:r>
          </a:p>
        </p:txBody>
      </p:sp>
      <p:sp>
        <p:nvSpPr>
          <p:cNvPr id="10" name="The demo supports uploads and recordings, audio playback, transcript c">
            <a:extLst xmlns:a="http://schemas.openxmlformats.org/drawingml/2006/main">
              <a:ext uri="{FF2B5EF4-FFF2-40B4-BE49-F238E27FC236}">
                <a16:creationId xmlns:a16="http://schemas.microsoft.com/office/drawing/2014/main" id="{2A96E882-DFC6-4133-B290-E4DF2C2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00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00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00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00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00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00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00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00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00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  <a:r>
              <a:rPr sz="1500" b="0">
                <a:solidFill>
                  <a:srgbClr val="AAB6DB"/>
                </a:solidFill>
                <a:latin typeface="Epilogue"/>
                <a:ea typeface="Epilogue"/>
                <a:cs typeface="Epilogue"/>
              </a:rPr>
              <a:t>The demo supports uploads and recordings, audio playback, transcript comparison and downloads.</a:t>
            </a:r>
          </a:p>
        </p:txBody>
      </p:sp>
    </p:spTree>
    <p:extLst>
      <p:ext uri="{BB962C8B-B14F-4D97-AF65-F5344CB8AC3E}">
        <p14:creationId xmlns:p14="http://schemas.microsoft.com/office/powerpoint/2010/main" val="93680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clusions &amp; Future Work">
            <a:extLst xmlns:a="http://schemas.openxmlformats.org/drawingml/2006/main">
              <a:ext uri="{FF2B5EF4-FFF2-40B4-BE49-F238E27FC236}">
                <a16:creationId xmlns:a16="http://schemas.microsoft.com/office/drawing/2014/main" id="{24B41761-9B67-4B3B-A016-45F1020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Conclusions &amp; Future Work</a:t>
            </a:r>
          </a:p>
        </p:txBody>
      </p:sp>
      <p:sp>
        <p:nvSpPr>
          <p:cNvPr id="3" name="The main finding is that better audio scores do not guarantee better s">
            <a:extLst xmlns:a="http://schemas.openxmlformats.org/drawingml/2006/main">
              <a:ext uri="{FF2B5EF4-FFF2-40B4-BE49-F238E27FC236}">
                <a16:creationId xmlns:a16="http://schemas.microsoft.com/office/drawing/2014/main" id="{048C5B61-2851-4D9F-A7B8-08178C46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  <a:r>
              <a:rPr sz="1425" b="0">
                <a:solidFill>
                  <a:srgbClr val="AAB6DB"/>
                </a:solidFill>
                <a:latin typeface="Epilogue"/>
                <a:ea typeface="Epilogue"/>
                <a:cs typeface="Epilogue"/>
              </a:rPr>
              <a:t>The main finding is that better audio scores do not guarantee better speech recognition.</a:t>
            </a:r>
          </a:p>
        </p:txBody>
      </p:sp>
      <p:sp>
        <p:nvSpPr>
          <p:cNvPr id="4" name="What we learned">
            <a:extLst xmlns:a="http://schemas.openxmlformats.org/drawingml/2006/main">
              <a:ext uri="{FF2B5EF4-FFF2-40B4-BE49-F238E27FC236}">
                <a16:creationId xmlns:a16="http://schemas.microsoft.com/office/drawing/2014/main" id="{0DC43D8D-D3CF-41B1-B110-29875766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What we learned</a:t>
            </a:r>
          </a:p>
        </p:txBody>
      </p:sp>
      <p:sp>
        <p:nvSpPr>
          <p:cNvPr id="5" name="U-Net improves measured audio quality, but Whisper makes more errors a">
            <a:extLst xmlns:a="http://schemas.openxmlformats.org/drawingml/2006/main">
              <a:ext uri="{FF2B5EF4-FFF2-40B4-BE49-F238E27FC236}">
                <a16:creationId xmlns:a16="http://schemas.microsoft.com/office/drawing/2014/main" id="{26867737-3FFE-47FC-BEB0-D6D8B8D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5095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87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U-Net improves measured audio quality, but Whisper makes more errors after enhancement. Conservative text correction gives a small improvement in both audio paths.</a:t>
            </a:r>
          </a:p>
        </p:txBody>
      </p:sp>
      <p:sp>
        <p:nvSpPr>
          <p:cNvPr id="6" name="What limits the results">
            <a:extLst xmlns:a="http://schemas.openxmlformats.org/drawingml/2006/main">
              <a:ext uri="{FF2B5EF4-FFF2-40B4-BE49-F238E27FC236}">
                <a16:creationId xmlns:a16="http://schemas.microsoft.com/office/drawing/2014/main" id="{2E456B60-DC0A-4E52-A5B9-E182B74F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1875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What limits the results</a:t>
            </a:r>
          </a:p>
        </p:txBody>
      </p:sp>
      <p:sp>
        <p:nvSpPr>
          <p:cNvPr id="7" name="The test set contains two speakers. Correction can still replace corre">
            <a:extLst xmlns:a="http://schemas.openxmlformats.org/drawingml/2006/main">
              <a:ext uri="{FF2B5EF4-FFF2-40B4-BE49-F238E27FC236}">
                <a16:creationId xmlns:a16="http://schemas.microsoft.com/office/drawing/2014/main" id="{30B14B15-5363-4BC0-A2A9-9FAA47A9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9825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875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The test set contains two speakers. Correction can still replace correct words, and the full pipeline does not beat Whisper on the original noisy audio.</a:t>
            </a:r>
          </a:p>
        </p:txBody>
      </p:sp>
      <p:sp>
        <p:nvSpPr>
          <p:cNvPr id="8" name="Next steps">
            <a:extLst xmlns:a="http://schemas.openxmlformats.org/drawingml/2006/main">
              <a:ext uri="{FF2B5EF4-FFF2-40B4-BE49-F238E27FC236}">
                <a16:creationId xmlns:a16="http://schemas.microsoft.com/office/drawing/2014/main" id="{AB5F16E1-2FA9-4A82-8772-2F5A7944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22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22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22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22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22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22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22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22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22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22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Next steps</a:t>
            </a:r>
          </a:p>
        </p:txBody>
      </p:sp>
      <p:sp>
        <p:nvSpPr>
          <p:cNvPr id="9" name="Future work should preserve phase information, train toward recognitio">
            <a:extLst xmlns:a="http://schemas.openxmlformats.org/drawingml/2006/main">
              <a:ext uri="{FF2B5EF4-FFF2-40B4-BE49-F238E27FC236}">
                <a16:creationId xmlns:a16="http://schemas.microsoft.com/office/drawing/2014/main" id="{68D09F8E-3AF8-453C-BF5E-4055FFE7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2100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2100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2100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2100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2100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2100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2100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2100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2100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pPr>
            <a:r>
              <a:rPr sz="2100" b="0">
                <a:solidFill>
                  <a:srgbClr val="55D8C1"/>
                </a:solidFill>
                <a:latin typeface="Epilogue"/>
                <a:ea typeface="Epilogue"/>
                <a:cs typeface="Epilogue"/>
              </a:rPr>
              <a:t>Future work should preserve phase information, train toward recognition accuracy, and test more speakers and noise conditions.</a:t>
            </a:r>
          </a:p>
        </p:txBody>
      </p:sp>
    </p:spTree>
    <p:extLst>
      <p:ext uri="{BB962C8B-B14F-4D97-AF65-F5344CB8AC3E}">
        <p14:creationId xmlns:p14="http://schemas.microsoft.com/office/powerpoint/2010/main" val="2387487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CB7B6C46-8439-4509-A047-3DD308AD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 algn="l"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3150" b="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References</a:t>
            </a:r>
          </a:p>
        </p:txBody>
      </p:sp>
      <p:sp>
        <p:nvSpPr>
          <p:cNvPr id="3" name="Primary research, dataset and implementation sources.">
            <a:extLst xmlns:a="http://schemas.openxmlformats.org/drawingml/2006/main">
              <a:ext uri="{FF2B5EF4-FFF2-40B4-BE49-F238E27FC236}">
                <a16:creationId xmlns:a16="http://schemas.microsoft.com/office/drawing/2014/main" id="{057A01B9-3E26-4942-A398-4AA5C9D8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1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  <a:r>
              <a:rPr sz="1425" b="0">
                <a:solidFill>
                  <a:srgbClr val="AAB6DB"/>
                </a:solidFill>
                <a:latin typeface="Epilogue"/>
                <a:ea typeface="Epilogue"/>
                <a:cs typeface="Epilogue"/>
              </a:rPr>
              <a:t>Primary research, dataset and implementation sources.</a:t>
            </a:r>
          </a:p>
        </p:txBody>
      </p:sp>
      <p:sp>
        <p:nvSpPr>
          <p:cNvPr id="4" name="Valentini-Botinhao, 2017">
            <a:extLst xmlns:a="http://schemas.openxmlformats.org/drawingml/2006/main">
              <a:ext uri="{FF2B5EF4-FFF2-40B4-BE49-F238E27FC236}">
                <a16:creationId xmlns:a16="http://schemas.microsoft.com/office/drawing/2014/main" id="{BBA4B1B9-D900-4E5C-8F22-BCA42633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pPr>
            <a:r>
              <a:rPr sz="1575" b="0">
                <a:solidFill>
                  <a:srgbClr val="67BEFF"/>
                </a:solidFill>
                <a:latin typeface="Epilogue"/>
                <a:ea typeface="Epilogue"/>
                <a:cs typeface="Epilogue"/>
              </a:rPr>
              <a:t>Valentini-Botinhao, 2017</a:t>
            </a:r>
          </a:p>
        </p:txBody>
      </p:sp>
      <p:sp>
        <p:nvSpPr>
          <p:cNvPr id="5" name="VoiceBank+DEMAND paired speech database. doi:10.7488/ds/2117">
            <a:extLst xmlns:a="http://schemas.openxmlformats.org/drawingml/2006/main">
              <a:ext uri="{FF2B5EF4-FFF2-40B4-BE49-F238E27FC236}">
                <a16:creationId xmlns:a16="http://schemas.microsoft.com/office/drawing/2014/main" id="{737B2FA0-CE2F-46BF-AE6A-B859220F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05000"/>
            <a:ext cx="7000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VoiceBank+DEMAND paired speech database. doi:10.7488/ds/2117</a:t>
            </a:r>
          </a:p>
        </p:txBody>
      </p:sp>
      <p:sp>
        <p:nvSpPr>
          <p:cNvPr id="6" name="Pascual et al., 2017">
            <a:extLst xmlns:a="http://schemas.openxmlformats.org/drawingml/2006/main">
              <a:ext uri="{FF2B5EF4-FFF2-40B4-BE49-F238E27FC236}">
                <a16:creationId xmlns:a16="http://schemas.microsoft.com/office/drawing/2014/main" id="{3203451E-72F0-4696-BD0F-92C4C6BD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pPr>
            <a:r>
              <a:rPr sz="1575" b="0">
                <a:solidFill>
                  <a:srgbClr val="67BEFF"/>
                </a:solidFill>
                <a:latin typeface="Epilogue"/>
                <a:ea typeface="Epilogue"/>
                <a:cs typeface="Epilogue"/>
              </a:rPr>
              <a:t>Pascual et al., 2017</a:t>
            </a:r>
          </a:p>
        </p:txBody>
      </p:sp>
      <p:sp>
        <p:nvSpPr>
          <p:cNvPr id="7" name="SEGAN. arXiv:1703.09452">
            <a:extLst xmlns:a="http://schemas.openxmlformats.org/drawingml/2006/main">
              <a:ext uri="{FF2B5EF4-FFF2-40B4-BE49-F238E27FC236}">
                <a16:creationId xmlns:a16="http://schemas.microsoft.com/office/drawing/2014/main" id="{80CA7448-F6D8-4837-A733-1AA1F882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05075"/>
            <a:ext cx="7000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SEGAN. arXiv:1703.09452</a:t>
            </a:r>
          </a:p>
        </p:txBody>
      </p:sp>
      <p:sp>
        <p:nvSpPr>
          <p:cNvPr id="8" name="Fu et al., 2019 / 2021">
            <a:extLst xmlns:a="http://schemas.openxmlformats.org/drawingml/2006/main">
              <a:ext uri="{FF2B5EF4-FFF2-40B4-BE49-F238E27FC236}">
                <a16:creationId xmlns:a16="http://schemas.microsoft.com/office/drawing/2014/main" id="{B1AA8435-89E4-4026-BB50-14194795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pPr>
            <a:r>
              <a:rPr sz="1575" b="0">
                <a:solidFill>
                  <a:srgbClr val="67BEFF"/>
                </a:solidFill>
                <a:latin typeface="Epilogue"/>
                <a:ea typeface="Epilogue"/>
                <a:cs typeface="Epilogue"/>
              </a:rPr>
              <a:t>Fu et al., 2019 / 2021</a:t>
            </a:r>
          </a:p>
        </p:txBody>
      </p:sp>
      <p:sp>
        <p:nvSpPr>
          <p:cNvPr id="9" name="MetricGAN and MetricGAN+. arXiv:1905.04874 / 2104.03538">
            <a:extLst xmlns:a="http://schemas.openxmlformats.org/drawingml/2006/main">
              <a:ext uri="{FF2B5EF4-FFF2-40B4-BE49-F238E27FC236}">
                <a16:creationId xmlns:a16="http://schemas.microsoft.com/office/drawing/2014/main" id="{71D7E793-20AB-40D3-9970-5FCC4C9A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05150"/>
            <a:ext cx="7000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MetricGAN and MetricGAN+. arXiv:1905.04874 / 2104.03538</a:t>
            </a:r>
          </a:p>
        </p:txBody>
      </p:sp>
      <p:sp>
        <p:nvSpPr>
          <p:cNvPr id="10" name="Hu et al., 2020">
            <a:extLst xmlns:a="http://schemas.openxmlformats.org/drawingml/2006/main">
              <a:ext uri="{FF2B5EF4-FFF2-40B4-BE49-F238E27FC236}">
                <a16:creationId xmlns:a16="http://schemas.microsoft.com/office/drawing/2014/main" id="{F68F57FC-105C-4B11-ADBD-DFB0F187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pPr>
            <a:r>
              <a:rPr sz="1575" b="0">
                <a:solidFill>
                  <a:srgbClr val="67BEFF"/>
                </a:solidFill>
                <a:latin typeface="Epilogue"/>
                <a:ea typeface="Epilogue"/>
                <a:cs typeface="Epilogue"/>
              </a:rPr>
              <a:t>Hu et al., 2020</a:t>
            </a:r>
          </a:p>
        </p:txBody>
      </p:sp>
      <p:sp>
        <p:nvSpPr>
          <p:cNvPr id="11" name="DCCRN. arXiv:2008.00264">
            <a:extLst xmlns:a="http://schemas.openxmlformats.org/drawingml/2006/main">
              <a:ext uri="{FF2B5EF4-FFF2-40B4-BE49-F238E27FC236}">
                <a16:creationId xmlns:a16="http://schemas.microsoft.com/office/drawing/2014/main" id="{1ED8DB98-1B68-4433-9264-99645653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05225"/>
            <a:ext cx="7000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DCCRN. arXiv:2008.00264</a:t>
            </a:r>
          </a:p>
        </p:txBody>
      </p:sp>
      <p:sp>
        <p:nvSpPr>
          <p:cNvPr id="12" name="Radford et al., 2022 / 2019">
            <a:extLst xmlns:a="http://schemas.openxmlformats.org/drawingml/2006/main">
              <a:ext uri="{FF2B5EF4-FFF2-40B4-BE49-F238E27FC236}">
                <a16:creationId xmlns:a16="http://schemas.microsoft.com/office/drawing/2014/main" id="{85288A69-29E1-426D-9CDE-7494C140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pPr>
            <a:r>
              <a:rPr sz="1575" b="0">
                <a:solidFill>
                  <a:srgbClr val="67BEFF"/>
                </a:solidFill>
                <a:latin typeface="Epilogue"/>
                <a:ea typeface="Epilogue"/>
                <a:cs typeface="Epilogue"/>
              </a:rPr>
              <a:t>Radford et al., 2022 / 2019</a:t>
            </a:r>
          </a:p>
        </p:txBody>
      </p:sp>
      <p:sp>
        <p:nvSpPr>
          <p:cNvPr id="13" name="Whisper, arXiv:2212.04356. GPT-2 technical report.">
            <a:extLst xmlns:a="http://schemas.openxmlformats.org/drawingml/2006/main">
              <a:ext uri="{FF2B5EF4-FFF2-40B4-BE49-F238E27FC236}">
                <a16:creationId xmlns:a16="http://schemas.microsoft.com/office/drawing/2014/main" id="{A4FABE61-BE23-4569-A6F8-2C37FD2F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05300"/>
            <a:ext cx="7000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Whisper, arXiv:2212.04356. GPT-2 technical report.</a:t>
            </a:r>
          </a:p>
        </p:txBody>
      </p:sp>
      <p:sp>
        <p:nvSpPr>
          <p:cNvPr id="14" name="Ronneberger et al., 2015">
            <a:extLst xmlns:a="http://schemas.openxmlformats.org/drawingml/2006/main">
              <a:ext uri="{FF2B5EF4-FFF2-40B4-BE49-F238E27FC236}">
                <a16:creationId xmlns:a16="http://schemas.microsoft.com/office/drawing/2014/main" id="{A4B025A2-CF85-454C-A043-D97E546E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pPr>
            <a:r>
              <a:rPr sz="1575" b="0">
                <a:solidFill>
                  <a:srgbClr val="67BEFF"/>
                </a:solidFill>
                <a:latin typeface="Epilogue"/>
                <a:ea typeface="Epilogue"/>
                <a:cs typeface="Epilogue"/>
              </a:rPr>
              <a:t>Ronneberger et al., 2015</a:t>
            </a:r>
          </a:p>
        </p:txBody>
      </p:sp>
      <p:sp>
        <p:nvSpPr>
          <p:cNvPr id="15" name="U-Net. arXiv:1505.04597. CMU Pronouncing Dictionary.">
            <a:extLst xmlns:a="http://schemas.openxmlformats.org/drawingml/2006/main">
              <a:ext uri="{FF2B5EF4-FFF2-40B4-BE49-F238E27FC236}">
                <a16:creationId xmlns:a16="http://schemas.microsoft.com/office/drawing/2014/main" id="{2C4661C4-7AA3-4E5A-96C9-9569379C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05375"/>
            <a:ext cx="7000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500" b="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U-Net. arXiv:1505.04597. CMU Pronouncing Dictionary.</a:t>
            </a:r>
          </a:p>
        </p:txBody>
      </p:sp>
      <p:sp>
        <p:nvSpPr>
          <p:cNvPr id="16" name="Project repository: github.com/venox-2007/speech-enhancement-asr-corre">
            <a:extLst xmlns:a="http://schemas.openxmlformats.org/drawingml/2006/main">
              <a:ext uri="{FF2B5EF4-FFF2-40B4-BE49-F238E27FC236}">
                <a16:creationId xmlns:a16="http://schemas.microsoft.com/office/drawing/2014/main" id="{F8A59072-B11A-4DB3-A7B9-B1E503C4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defPPr>
            <a:lvl1pPr algn="l">
              <a:defRPr sz="157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1pPr>
            <a:lvl2pPr algn="l">
              <a:defRPr sz="157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2pPr>
            <a:lvl3pPr algn="l">
              <a:defRPr sz="157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3pPr>
            <a:lvl4pPr algn="l">
              <a:defRPr sz="157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4pPr>
            <a:lvl5pPr algn="l">
              <a:defRPr sz="157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5pPr>
            <a:lvl6pPr algn="l">
              <a:defRPr sz="157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6pPr>
            <a:lvl7pPr algn="l">
              <a:defRPr sz="157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7pPr>
            <a:lvl8pPr algn="l">
              <a:defRPr sz="157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8pPr>
            <a:lvl9pPr algn="l">
              <a:defRPr sz="157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AAB6DB"/>
                </a:solidFill>
                <a:latin typeface="Epilogue"/>
                <a:ea typeface="Epilogue"/>
                <a:cs typeface="Epilogue"/>
              </a:defRPr>
            </a:pPr>
            <a:r>
              <a:rPr sz="1575" b="0">
                <a:solidFill>
                  <a:srgbClr val="AAB6DB"/>
                </a:solidFill>
                <a:latin typeface="Epilogue"/>
                <a:ea typeface="Epilogue"/>
                <a:cs typeface="Epilogue"/>
              </a:rPr>
              <a:t>Project repository: github.com/venox-2007/speech-enhancement-asr-correction</a:t>
            </a:r>
          </a:p>
        </p:txBody>
      </p:sp>
    </p:spTree>
    <p:extLst>
      <p:ext uri="{BB962C8B-B14F-4D97-AF65-F5344CB8AC3E}">
        <p14:creationId xmlns:p14="http://schemas.microsoft.com/office/powerpoint/2010/main" val="914791289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Project Code &amp; Resources">
            <a:extLst>
              <a:ext uri="{FF2B5EF4-FFF2-40B4-BE49-F238E27FC236}">
                <ns2:creationId id="{56C2567C-8529-42D2-9FF7-61AA26865943}"/>
              </a:ext>
            </a:extLst>
          </p:cNvPr>
          <p:cNvSpPr>
            <a:spLocks noGrp="1"/>
          </p:cNvSpPr>
          <p:nvPr/>
        </p:nvSpPr>
        <p:spPr>
          <a:xfrm>
            <a:off x="666750" y="504825"/>
            <a:ext cx="10858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15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defPPr>
            <a:lvl1pPr>
              <a:defRPr sz="315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1pPr>
            <a:lvl2pPr>
              <a:defRPr sz="315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2pPr>
            <a:lvl3pPr>
              <a:defRPr sz="315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3pPr>
            <a:lvl4pPr>
              <a:defRPr sz="315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4pPr>
            <a:lvl5pPr>
              <a:defRPr sz="315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5pPr>
            <a:lvl6pPr>
              <a:defRPr sz="315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6pPr>
            <a:lvl7pPr>
              <a:defRPr sz="315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7pPr>
            <a:lvl8pPr>
              <a:defRPr sz="315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8pPr>
            <a:lvl9pPr>
              <a:defRPr sz="315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lvl9pPr>
          </a:lstStyle>
          <a:p>
            <a:pPr>
              <a:lnSpc>
                <a:spcPct val="115000"/>
              </a:lnSpc>
              <a:buNone/>
              <a:defRPr sz="315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defRPr>
            </a:pPr>
            <a:r>
              <a:rPr sz="3150">
                <a:solidFill>
                  <a:srgbClr val="FFFFFF"/>
                </a:solidFill>
                <a:latin typeface="Fraunces Medium"/>
                <a:ea typeface="Fraunces Medium"/>
                <a:cs typeface="Fraunces Medium"/>
              </a:rPr>
              <a:t>Project Code &amp; Resources</a:t>
            </a:r>
          </a:p>
        </p:txBody>
      </p:sp>
      <p:sp>
        <p:nvSpPr>
          <p:cNvPr id="2" name="The complete implementation and setup instructions are available on GitHub.">
            <a:extLst>
              <a:ext uri="{FF2B5EF4-FFF2-40B4-BE49-F238E27FC236}">
                <ns2:creationId id="{AEEF2E9C-57AB-4E60-B071-53755802BD59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1085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>
              <a:defRPr sz="21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>
              <a:defRPr sz="21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>
              <a:defRPr sz="21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>
              <a:defRPr sz="21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>
              <a:defRPr sz="21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>
              <a:defRPr sz="21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>
              <a:defRPr sz="21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>
              <a:defRPr sz="21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>
              <a:defRPr sz="21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>
            <a:pPr>
              <a:lnSpc>
                <a:spcPct val="115000"/>
              </a:lnSpc>
              <a:buNone/>
              <a:defRPr sz="2100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2100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The complete implementation and setup instructions are available on GitHub.</a:t>
            </a:r>
          </a:p>
        </p:txBody>
      </p:sp>
      <p:sp>
        <p:nvSpPr>
          <p:cNvPr id="3" name="https://github.com/venox-2007/speech-enhancement-asr-correction">
            <a:extLst>
              <a:ext uri="{FF2B5EF4-FFF2-40B4-BE49-F238E27FC236}">
                <ns2:creationId id="{14555FA6-26F1-4F98-A22A-AA7A63869F70}"/>
              </a:ext>
            </a:extLst>
            <a:hlinkClick r:id="rId2"/>
          </p:cNvPr>
          <p:cNvSpPr>
            <a:spLocks noGrp="1"/>
          </p:cNvSpPr>
          <p:nvPr/>
        </p:nvSpPr>
        <p:spPr>
          <a:xfrm>
            <a:off x="666750" y="31146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defPPr>
            <a:lvl1pPr>
              <a:defRPr sz="210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1pPr>
            <a:lvl2pPr>
              <a:defRPr sz="210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2pPr>
            <a:lvl3pPr>
              <a:defRPr sz="210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3pPr>
            <a:lvl4pPr>
              <a:defRPr sz="210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4pPr>
            <a:lvl5pPr>
              <a:defRPr sz="210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5pPr>
            <a:lvl6pPr>
              <a:defRPr sz="210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6pPr>
            <a:lvl7pPr>
              <a:defRPr sz="210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7pPr>
            <a:lvl8pPr>
              <a:defRPr sz="210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8pPr>
            <a:lvl9pPr>
              <a:defRPr sz="210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lvl9pPr>
          </a:lstStyle>
          <a:p>
            <a:pPr>
              <a:lnSpc>
                <a:spcPct val="115000"/>
              </a:lnSpc>
              <a:buNone/>
              <a:defRPr sz="2100">
                <a:solidFill>
                  <a:srgbClr val="67BEFF"/>
                </a:solidFill>
                <a:latin typeface="Epilogue"/>
                <a:ea typeface="Epilogue"/>
                <a:cs typeface="Epilogue"/>
              </a:defRPr>
            </a:pPr>
            <a:r>
              <a:rPr sz="2100">
                <a:solidFill>
                  <a:srgbClr val="67BEFF"/>
                </a:solidFill>
                <a:latin typeface="Epilogue"/>
                <a:ea typeface="Epilogue"/>
                <a:cs typeface="Epilogue"/>
              </a:rPr>
              <a:t>https://github.com/venox-2007/speech-enhancement-asr-correction</a:t>
            </a:r>
          </a:p>
        </p:txBody>
      </p:sp>
      <p:sp>
        <p:nvSpPr>
          <p:cNvPr id="4" name="The repository includes the trained U-Net and demonstration samples.">
            <a:extLst>
              <a:ext uri="{FF2B5EF4-FFF2-40B4-BE49-F238E27FC236}">
                <ns2:creationId id="{F2C2D8D5-1E1F-483B-A0FD-A1A265C0B56B}"/>
              </a:ext>
            </a:extLst>
          </p:cNvPr>
          <p:cNvSpPr>
            <a:spLocks noGrp="1"/>
          </p:cNvSpPr>
          <p:nvPr/>
        </p:nvSpPr>
        <p:spPr>
          <a:xfrm>
            <a:off x="666750" y="441007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defPPr>
            <a:lvl1pPr>
              <a:defRPr sz="1875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1pPr>
            <a:lvl2pPr>
              <a:defRPr sz="1875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2pPr>
            <a:lvl3pPr>
              <a:defRPr sz="1875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3pPr>
            <a:lvl4pPr>
              <a:defRPr sz="1875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4pPr>
            <a:lvl5pPr>
              <a:defRPr sz="1875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5pPr>
            <a:lvl6pPr>
              <a:defRPr sz="1875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6pPr>
            <a:lvl7pPr>
              <a:defRPr sz="1875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7pPr>
            <a:lvl8pPr>
              <a:defRPr sz="1875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8pPr>
            <a:lvl9pPr>
              <a:defRPr sz="1875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lvl9pPr>
          </a:lstStyle>
          <a:p>
            <a:pPr>
              <a:lnSpc>
                <a:spcPct val="115000"/>
              </a:lnSpc>
              <a:buNone/>
              <a:defRPr sz="1875">
                <a:solidFill>
                  <a:srgbClr val="EBECEF"/>
                </a:solidFill>
                <a:latin typeface="Epilogue"/>
                <a:ea typeface="Epilogue"/>
                <a:cs typeface="Epilogue"/>
              </a:defRPr>
            </a:pPr>
            <a:r>
              <a:rPr sz="1875">
                <a:solidFill>
                  <a:srgbClr val="EBECEF"/>
                </a:solidFill>
                <a:latin typeface="Epilogue"/>
                <a:ea typeface="Epilogue"/>
                <a:cs typeface="Epilogue"/>
              </a:rPr>
              <a:t>The repository includes the trained U-Net and demonstration samples.</a:t>
            </a:r>
          </a:p>
        </p:txBody>
      </p:sp>
      <p:sp>
        <p:nvSpPr>
          <p:cNvPr id="5" name="It also provides evaluation results and full dataset download instructions.">
            <a:extLst>
              <a:ext uri="{FF2B5EF4-FFF2-40B4-BE49-F238E27FC236}">
                <ns2:creationId id="{3A1F44E6-359D-487F-9ED9-BC4B360B91C7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defPPr>
            <a:lvl1pPr>
              <a:defRPr sz="1875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1pPr>
            <a:lvl2pPr>
              <a:defRPr sz="1875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2pPr>
            <a:lvl3pPr>
              <a:defRPr sz="1875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3pPr>
            <a:lvl4pPr>
              <a:defRPr sz="1875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4pPr>
            <a:lvl5pPr>
              <a:defRPr sz="1875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5pPr>
            <a:lvl6pPr>
              <a:defRPr sz="1875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6pPr>
            <a:lvl7pPr>
              <a:defRPr sz="1875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7pPr>
            <a:lvl8pPr>
              <a:defRPr sz="1875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8pPr>
            <a:lvl9pPr>
              <a:defRPr sz="1875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lvl9pPr>
          </a:lstStyle>
          <a:p>
            <a:pPr>
              <a:lnSpc>
                <a:spcPct val="115000"/>
              </a:lnSpc>
              <a:buNone/>
              <a:defRPr sz="1875">
                <a:solidFill>
                  <a:srgbClr val="55D8C1"/>
                </a:solidFill>
                <a:latin typeface="Epilogue"/>
                <a:ea typeface="Epilogue"/>
                <a:cs typeface="Epilogue"/>
              </a:defRPr>
            </a:pPr>
            <a:r>
              <a:rPr sz="1875">
                <a:solidFill>
                  <a:srgbClr val="55D8C1"/>
                </a:solidFill>
                <a:latin typeface="Epilogue"/>
                <a:ea typeface="Epilogue"/>
                <a:cs typeface="Epilogue"/>
              </a:rPr>
              <a:t>It also provides evaluation results and full dataset download instructions.</a:t>
            </a:r>
          </a:p>
        </p:txBody>
      </p:sp>
    </p:spTree>
    <p:extLst>
      <p:ext uri="{BB962C8B-B14F-4D97-AF65-F5344CB8AC3E}">
        <ns4:creationId val="482181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Epilogue"/>
        <a:ea typeface=""/>
        <a:cs typeface=""/>
      </a:majorFont>
      <a:minorFont>
        <a:latin typeface="Epilog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12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2026-10-29T03:30:11.0790000Z</dcterms:created>
  <dcterms:modified xsi:type="dcterms:W3CDTF">2026-10-29T03:30:11.0790000Z</dcterms:modified>
</coreProperties>
</file>